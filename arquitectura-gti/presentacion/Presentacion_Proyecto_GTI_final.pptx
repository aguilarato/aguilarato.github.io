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3" r:id="rId12"/>
    <p:sldId id="294" r:id="rId13"/>
    <p:sldId id="295" r:id="rId14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9" r:id="rId27"/>
    <p:sldId id="310" r:id="rId48"/>
    <p:sldId id="311" r:id="rId49"/>
    <p:sldId id="296" r:id="rId15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28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26.xml"/><Relationship Id="rId49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Acuerdo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9822B"/>
              </a:solidFill>
            </c:spPr>
            <c:extLst>
              <c:ext xmlns:c16="http://schemas.microsoft.com/office/drawing/2014/chart" uri="{C3380CC4-5D6E-409C-BE32-E72D297353CC}">
                <c16:uniqueId val="{00000001-2D0B-44AB-A283-AEC10F1EAE9A}"/>
              </c:ext>
            </c:extLst>
          </c:dPt>
          <c:dPt>
            <c:idx val="1"/>
            <c:invertIfNegative val="1"/>
            <c:bubble3D val="0"/>
            <c:spPr>
              <a:solidFill>
                <a:srgbClr val="009191"/>
              </a:solidFill>
            </c:spPr>
            <c:extLst>
              <c:ext xmlns:c16="http://schemas.microsoft.com/office/drawing/2014/chart" uri="{C3380CC4-5D6E-409C-BE32-E72D297353CC}">
                <c16:uniqueId val="{00000003-2D0B-44AB-A283-AEC10F1EAE9A}"/>
              </c:ext>
            </c:extLst>
          </c:dPt>
          <c:dPt>
            <c:idx val="2"/>
            <c:invertIfNegative val="1"/>
            <c:bubble3D val="0"/>
            <c:spPr>
              <a:solidFill>
                <a:srgbClr val="009191"/>
              </a:solidFill>
            </c:spPr>
            <c:extLst>
              <c:ext xmlns:c16="http://schemas.microsoft.com/office/drawing/2014/chart" uri="{C3380CC4-5D6E-409C-BE32-E72D297353CC}">
                <c16:uniqueId val="{00000005-2D0B-44AB-A283-AEC10F1EAE9A}"/>
              </c:ext>
            </c:extLst>
          </c:dPt>
          <c:dPt>
            <c:idx val="3"/>
            <c:invertIfNegative val="1"/>
            <c:bubble3D val="0"/>
            <c:spPr>
              <a:solidFill>
                <a:srgbClr val="009191"/>
              </a:solidFill>
            </c:spPr>
            <c:extLst>
              <c:ext xmlns:c16="http://schemas.microsoft.com/office/drawing/2014/chart" uri="{C3380CC4-5D6E-409C-BE32-E72D297353CC}">
                <c16:uniqueId val="{00000007-2D0B-44AB-A283-AEC10F1EAE9A}"/>
              </c:ext>
            </c:extLst>
          </c:dPt>
          <c:dPt>
            <c:idx val="4"/>
            <c:invertIfNegative val="1"/>
            <c:bubble3D val="0"/>
            <c:spPr>
              <a:solidFill>
                <a:srgbClr val="009191"/>
              </a:solidFill>
            </c:spPr>
            <c:extLst>
              <c:ext xmlns:c16="http://schemas.microsoft.com/office/drawing/2014/chart" uri="{C3380CC4-5D6E-409C-BE32-E72D297353CC}">
                <c16:uniqueId val="{00000009-2D0B-44AB-A283-AEC10F1EAE9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4253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Nosotros</c:v>
                </c:pt>
                <c:pt idx="1">
                  <c:v>Mi Cuenta</c:v>
                </c:pt>
                <c:pt idx="2">
                  <c:v>Herramientas y Recursos</c:v>
                </c:pt>
                <c:pt idx="3">
                  <c:v>Planes</c:v>
                </c:pt>
                <c:pt idx="4">
                  <c:v>Ayuda y Contacto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</c:v>
                </c:pt>
                <c:pt idx="1">
                  <c:v>0.75</c:v>
                </c:pt>
                <c:pt idx="2">
                  <c:v>0.78</c:v>
                </c:pt>
                <c:pt idx="3">
                  <c:v>0.81</c:v>
                </c:pt>
                <c:pt idx="4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D0B-44AB-A283-AEC10F1EAE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28303A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ctopus.do/ehdjf242j8h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6858000" cy="4114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500" b="1">
                <a:solidFill>
                  <a:srgbClr val="96DCDC"/>
                </a:solidFill>
                <a:latin typeface="Aptos"/>
              </a:defRPr>
            </a:pPr>
            <a:r>
              <a:t>UNIVERSIDAD NACIONAL DE COSTA 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7132320" cy="1463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Arquitectura de información</a:t>
            </a:r>
            <a:br/>
            <a:r>
              <a:t>para FacturaElectronica.cr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6675120" cy="6400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900" b="0">
                <a:solidFill>
                  <a:srgbClr val="DAE5F0"/>
                </a:solidFill>
                <a:latin typeface="Aptos"/>
              </a:defRPr>
            </a:pPr>
            <a:r>
              <a:t>Proyecto Integrador · EIF 511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685800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Ceasar Calvo Muñoz · Derrek Ureña Solis · Luis Aguilar Bolaños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68580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0">
                <a:solidFill>
                  <a:srgbClr val="DAE5F0"/>
                </a:solidFill>
                <a:latin typeface="Aptos"/>
              </a:defRPr>
            </a:pPr>
            <a:r>
              <a:t>Profesora: Cynthia Vanessa Bolaños Espinoza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68580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0">
                <a:solidFill>
                  <a:srgbClr val="96DCDC"/>
                </a:solidFill>
                <a:latin typeface="Aptos"/>
              </a:defRPr>
            </a:pPr>
            <a:r>
              <a:t>27 de octubre de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640080"/>
            <a:ext cx="2834640" cy="1097280"/>
          </a:xfrm>
          <a:prstGeom prst="round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0" y="1920240"/>
            <a:ext cx="2011680" cy="1097280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3291840"/>
            <a:ext cx="3474720" cy="1097280"/>
          </a:xfrm>
          <a:prstGeom prst="roundRect">
            <a:avLst/>
          </a:prstGeom>
          <a:solidFill>
            <a:srgbClr val="243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PARTE I · CONTEXTO Y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058400" cy="6400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800" b="0">
                <a:solidFill>
                  <a:srgbClr val="9BDCDC"/>
                </a:solidFill>
                <a:latin typeface="Aptos"/>
              </a:defRPr>
            </a:pPr>
            <a:r>
              <a:t>Organización, usuarios, problema y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Ceasar Calvo Muñoz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1. ¿Qué es FacturaElectronica.cr?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Contexto de la organización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Ceasar Calvo Muñoz |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Es el </a:t>
            </a:r>
            <a:r>
              <a:rPr dirty="0" err="1"/>
              <a:t>servicio</a:t>
            </a:r>
            <a:r>
              <a:rPr dirty="0"/>
              <a:t> de </a:t>
            </a:r>
            <a:r>
              <a:rPr dirty="0" err="1"/>
              <a:t>facturación</a:t>
            </a:r>
            <a:r>
              <a:rPr dirty="0"/>
              <a:t> </a:t>
            </a:r>
            <a:r>
              <a:rPr dirty="0" err="1"/>
              <a:t>electrónica</a:t>
            </a:r>
            <a:r>
              <a:rPr dirty="0"/>
              <a:t> </a:t>
            </a:r>
            <a:r>
              <a:rPr dirty="0" err="1"/>
              <a:t>ofrecido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Tecnología</a:t>
            </a:r>
            <a:r>
              <a:rPr dirty="0"/>
              <a:t> e </a:t>
            </a:r>
            <a:r>
              <a:rPr dirty="0" err="1"/>
              <a:t>Información</a:t>
            </a:r>
            <a:r>
              <a:rPr dirty="0"/>
              <a:t> (GTI).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emitir</a:t>
            </a:r>
            <a:r>
              <a:rPr dirty="0"/>
              <a:t> y </a:t>
            </a:r>
            <a:r>
              <a:rPr dirty="0" err="1"/>
              <a:t>recibir</a:t>
            </a:r>
            <a:r>
              <a:rPr dirty="0"/>
              <a:t> </a:t>
            </a:r>
            <a:r>
              <a:rPr dirty="0" err="1"/>
              <a:t>comprobantes</a:t>
            </a:r>
            <a:r>
              <a:rPr dirty="0"/>
              <a:t> </a:t>
            </a:r>
            <a:r>
              <a:rPr dirty="0" err="1"/>
              <a:t>electrónicos</a:t>
            </a:r>
            <a:r>
              <a:rPr dirty="0"/>
              <a:t> y </a:t>
            </a:r>
            <a:r>
              <a:rPr dirty="0" err="1"/>
              <a:t>gestionar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relacionados</a:t>
            </a:r>
            <a:r>
              <a:rPr dirty="0"/>
              <a:t> con las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comerciales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Ofrece</a:t>
            </a:r>
            <a:r>
              <a:rPr dirty="0"/>
              <a:t> </a:t>
            </a:r>
            <a:r>
              <a:rPr dirty="0" err="1"/>
              <a:t>reportes</a:t>
            </a:r>
            <a:r>
              <a:rPr dirty="0"/>
              <a:t>, </a:t>
            </a:r>
            <a:r>
              <a:rPr dirty="0" err="1"/>
              <a:t>almacenamiento</a:t>
            </a:r>
            <a:r>
              <a:rPr dirty="0"/>
              <a:t> de </a:t>
            </a:r>
            <a:r>
              <a:rPr dirty="0" err="1"/>
              <a:t>productos</a:t>
            </a:r>
            <a:r>
              <a:rPr dirty="0"/>
              <a:t> y </a:t>
            </a:r>
            <a:r>
              <a:rPr dirty="0" err="1"/>
              <a:t>servicios</a:t>
            </a:r>
            <a:r>
              <a:rPr dirty="0"/>
              <a:t>, </a:t>
            </a:r>
            <a:r>
              <a:rPr dirty="0" err="1"/>
              <a:t>facturación</a:t>
            </a:r>
            <a:r>
              <a:rPr dirty="0"/>
              <a:t> </a:t>
            </a:r>
            <a:r>
              <a:rPr dirty="0" err="1"/>
              <a:t>recurrente</a:t>
            </a:r>
            <a:r>
              <a:rPr dirty="0"/>
              <a:t>, </a:t>
            </a:r>
            <a:r>
              <a:rPr dirty="0" err="1"/>
              <a:t>notas</a:t>
            </a:r>
            <a:r>
              <a:rPr dirty="0"/>
              <a:t> de </a:t>
            </a:r>
            <a:r>
              <a:rPr dirty="0" err="1"/>
              <a:t>crédito</a:t>
            </a:r>
            <a:r>
              <a:rPr dirty="0"/>
              <a:t> y </a:t>
            </a:r>
            <a:r>
              <a:rPr dirty="0" err="1"/>
              <a:t>débito</a:t>
            </a:r>
            <a:r>
              <a:rPr dirty="0"/>
              <a:t> y </a:t>
            </a:r>
            <a:r>
              <a:rPr dirty="0" err="1"/>
              <a:t>búsquedas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Complementa</a:t>
            </a:r>
            <a:r>
              <a:rPr dirty="0"/>
              <a:t> el </a:t>
            </a:r>
            <a:r>
              <a:rPr dirty="0" err="1"/>
              <a:t>servicio</a:t>
            </a:r>
            <a:r>
              <a:rPr dirty="0"/>
              <a:t> con </a:t>
            </a:r>
            <a:r>
              <a:rPr dirty="0" err="1"/>
              <a:t>capacitaciones</a:t>
            </a:r>
            <a:r>
              <a:rPr dirty="0"/>
              <a:t>, </a:t>
            </a:r>
            <a:r>
              <a:rPr dirty="0" err="1"/>
              <a:t>asistencia</a:t>
            </a:r>
            <a:r>
              <a:rPr dirty="0"/>
              <a:t>, </a:t>
            </a:r>
            <a:r>
              <a:rPr dirty="0" err="1"/>
              <a:t>respaldo</a:t>
            </a:r>
            <a:r>
              <a:rPr dirty="0"/>
              <a:t> documental, </a:t>
            </a:r>
            <a:r>
              <a:rPr dirty="0" err="1"/>
              <a:t>integración</a:t>
            </a:r>
            <a:r>
              <a:rPr dirty="0"/>
              <a:t> con ERP y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móvil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sitio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informa</a:t>
            </a:r>
            <a:r>
              <a:rPr dirty="0"/>
              <a:t>,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consultar</a:t>
            </a:r>
            <a:r>
              <a:rPr dirty="0"/>
              <a:t> planes, </a:t>
            </a:r>
            <a:r>
              <a:rPr dirty="0" err="1"/>
              <a:t>activar</a:t>
            </a:r>
            <a:r>
              <a:rPr dirty="0"/>
              <a:t> </a:t>
            </a:r>
            <a:r>
              <a:rPr dirty="0" err="1"/>
              <a:t>cuentas</a:t>
            </a:r>
            <a:r>
              <a:rPr dirty="0"/>
              <a:t> y </a:t>
            </a: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soporte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33288"/>
            <a:ext cx="10607040" cy="393192"/>
          </a:xfrm>
          <a:prstGeom prst="roundRect">
            <a:avLst/>
          </a:prstGeom>
          <a:solidFill>
            <a:srgbClr val="E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24688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009191"/>
                </a:solidFill>
                <a:latin typeface="Aptos"/>
              </a:defRPr>
            </a:pPr>
            <a:r>
              <a:t>El sitio cumple funciones comerciales, educativas y de autoservicio.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2. ¿Qué es la arquitectura de información?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Concepto y relevancia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Ceasar Calvo Muñoz |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Organiza</a:t>
            </a:r>
            <a:r>
              <a:rPr dirty="0"/>
              <a:t>, </a:t>
            </a:r>
            <a:r>
              <a:rPr dirty="0" err="1"/>
              <a:t>etiqueta</a:t>
            </a:r>
            <a:r>
              <a:rPr dirty="0"/>
              <a:t> y </a:t>
            </a:r>
            <a:r>
              <a:rPr dirty="0" err="1"/>
              <a:t>jerarquiza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contenidos</a:t>
            </a:r>
            <a:r>
              <a:rPr dirty="0"/>
              <a:t> de un sitio.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Ayuda a </a:t>
            </a:r>
            <a:r>
              <a:rPr dirty="0" err="1"/>
              <a:t>anticipar</a:t>
            </a:r>
            <a:r>
              <a:rPr dirty="0"/>
              <a:t>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opción</a:t>
            </a:r>
            <a:r>
              <a:rPr dirty="0"/>
              <a:t> y reduce el </a:t>
            </a:r>
            <a:r>
              <a:rPr dirty="0" err="1"/>
              <a:t>esfuerzo</a:t>
            </a:r>
            <a:r>
              <a:rPr dirty="0"/>
              <a:t> de </a:t>
            </a:r>
            <a:r>
              <a:rPr dirty="0" err="1"/>
              <a:t>búsqueda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FacturaElectronica.cr </a:t>
            </a:r>
            <a:r>
              <a:rPr dirty="0" err="1"/>
              <a:t>atiende</a:t>
            </a:r>
            <a:r>
              <a:rPr dirty="0"/>
              <a:t> a personas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investigan</a:t>
            </a:r>
            <a:r>
              <a:rPr dirty="0"/>
              <a:t> y a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necesitan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rápidas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Por </a:t>
            </a:r>
            <a:r>
              <a:rPr dirty="0" err="1"/>
              <a:t>eso</a:t>
            </a:r>
            <a:r>
              <a:rPr dirty="0"/>
              <a:t>,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combinar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, </a:t>
            </a:r>
            <a:r>
              <a:rPr dirty="0" err="1"/>
              <a:t>activación</a:t>
            </a:r>
            <a:r>
              <a:rPr dirty="0"/>
              <a:t>, </a:t>
            </a:r>
            <a:r>
              <a:rPr dirty="0" err="1"/>
              <a:t>herramientas</a:t>
            </a:r>
            <a:r>
              <a:rPr dirty="0"/>
              <a:t>, </a:t>
            </a:r>
            <a:r>
              <a:rPr dirty="0" err="1"/>
              <a:t>normativa</a:t>
            </a:r>
            <a:r>
              <a:rPr dirty="0"/>
              <a:t> y </a:t>
            </a:r>
            <a:r>
              <a:rPr dirty="0" err="1"/>
              <a:t>soporte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analiza</a:t>
            </a:r>
            <a:r>
              <a:rPr dirty="0"/>
              <a:t> la </a:t>
            </a:r>
            <a:r>
              <a:rPr dirty="0" err="1"/>
              <a:t>organización</a:t>
            </a:r>
            <a:r>
              <a:rPr dirty="0"/>
              <a:t> de </a:t>
            </a:r>
            <a:r>
              <a:rPr dirty="0" err="1"/>
              <a:t>contenidos</a:t>
            </a:r>
            <a:r>
              <a:rPr dirty="0"/>
              <a:t> </a:t>
            </a:r>
            <a:r>
              <a:rPr dirty="0" err="1"/>
              <a:t>públicos</a:t>
            </a:r>
            <a:r>
              <a:rPr dirty="0"/>
              <a:t>,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navegación</a:t>
            </a:r>
            <a:r>
              <a:rPr dirty="0"/>
              <a:t> y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recuperación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3. Problemática identificada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Diagnóstico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Ceasar Calvo Muñoz |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contenidos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distribuidos</a:t>
            </a:r>
            <a:r>
              <a:rPr dirty="0"/>
              <a:t> entre </a:t>
            </a:r>
            <a:r>
              <a:rPr dirty="0" err="1"/>
              <a:t>Activar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, Planes, </a:t>
            </a:r>
            <a:r>
              <a:rPr dirty="0" err="1"/>
              <a:t>Servicios</a:t>
            </a:r>
            <a:r>
              <a:rPr dirty="0"/>
              <a:t>, </a:t>
            </a:r>
            <a:r>
              <a:rPr dirty="0" err="1"/>
              <a:t>Herramientas</a:t>
            </a:r>
            <a:r>
              <a:rPr dirty="0"/>
              <a:t>, GTI </a:t>
            </a:r>
            <a:r>
              <a:rPr dirty="0" err="1"/>
              <a:t>Conectividad</a:t>
            </a:r>
            <a:r>
              <a:rPr dirty="0"/>
              <a:t>, </a:t>
            </a:r>
            <a:r>
              <a:rPr dirty="0" err="1"/>
              <a:t>Acerca</a:t>
            </a:r>
            <a:r>
              <a:rPr dirty="0"/>
              <a:t> de y Contacto.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No se </a:t>
            </a:r>
            <a:r>
              <a:rPr dirty="0" err="1"/>
              <a:t>entiende</a:t>
            </a:r>
            <a:r>
              <a:rPr dirty="0"/>
              <a:t> con </a:t>
            </a:r>
            <a:r>
              <a:rPr dirty="0" err="1"/>
              <a:t>suficiente</a:t>
            </a:r>
            <a:r>
              <a:rPr dirty="0"/>
              <a:t> </a:t>
            </a:r>
            <a:r>
              <a:rPr dirty="0" err="1"/>
              <a:t>claridad</a:t>
            </a:r>
            <a:r>
              <a:rPr dirty="0"/>
              <a:t> la </a:t>
            </a:r>
            <a:r>
              <a:rPr dirty="0" err="1"/>
              <a:t>relación</a:t>
            </a:r>
            <a:r>
              <a:rPr dirty="0"/>
              <a:t> entre </a:t>
            </a:r>
            <a:r>
              <a:rPr dirty="0" err="1"/>
              <a:t>contratar</a:t>
            </a:r>
            <a:r>
              <a:rPr dirty="0"/>
              <a:t> un plan, </a:t>
            </a:r>
            <a:r>
              <a:rPr dirty="0" err="1"/>
              <a:t>activar</a:t>
            </a:r>
            <a:r>
              <a:rPr dirty="0"/>
              <a:t> la </a:t>
            </a:r>
            <a:r>
              <a:rPr dirty="0" err="1"/>
              <a:t>cuenta</a:t>
            </a:r>
            <a:r>
              <a:rPr dirty="0"/>
              <a:t> y </a:t>
            </a:r>
            <a:r>
              <a:rPr dirty="0" err="1"/>
              <a:t>registrarse</a:t>
            </a:r>
            <a:r>
              <a:rPr dirty="0"/>
              <a:t> ante Hacienda.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“</a:t>
            </a:r>
            <a:r>
              <a:rPr dirty="0" err="1"/>
              <a:t>Servicios</a:t>
            </a:r>
            <a:r>
              <a:rPr dirty="0"/>
              <a:t>” y “</a:t>
            </a:r>
            <a:r>
              <a:rPr dirty="0" err="1"/>
              <a:t>Herramientas</a:t>
            </a:r>
            <a:r>
              <a:rPr dirty="0"/>
              <a:t>” son </a:t>
            </a:r>
            <a:r>
              <a:rPr dirty="0" err="1"/>
              <a:t>etiquetas</a:t>
            </a:r>
            <a:r>
              <a:rPr dirty="0"/>
              <a:t> </a:t>
            </a:r>
            <a:r>
              <a:rPr dirty="0" err="1"/>
              <a:t>genéricas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anticipan</a:t>
            </a:r>
            <a:r>
              <a:rPr dirty="0"/>
              <a:t> con </a:t>
            </a:r>
            <a:r>
              <a:rPr dirty="0" err="1"/>
              <a:t>precisión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contenido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acceso</a:t>
            </a:r>
            <a:r>
              <a:rPr dirty="0"/>
              <a:t> de </a:t>
            </a:r>
            <a:r>
              <a:rPr dirty="0" err="1"/>
              <a:t>clientes</a:t>
            </a:r>
            <a:r>
              <a:rPr dirty="0"/>
              <a:t> se </a:t>
            </a:r>
            <a:r>
              <a:rPr dirty="0" err="1"/>
              <a:t>concentra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Inicio</a:t>
            </a:r>
            <a:r>
              <a:rPr dirty="0"/>
              <a:t> y el </a:t>
            </a:r>
            <a:r>
              <a:rPr dirty="0" err="1"/>
              <a:t>soporte</a:t>
            </a:r>
            <a:r>
              <a:rPr dirty="0"/>
              <a:t> no se </a:t>
            </a:r>
            <a:r>
              <a:rPr dirty="0" err="1"/>
              <a:t>muestra</a:t>
            </a:r>
            <a:r>
              <a:rPr dirty="0"/>
              <a:t> de forma </a:t>
            </a:r>
            <a:r>
              <a:rPr dirty="0" err="1"/>
              <a:t>consistente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Algunas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conducen</a:t>
            </a:r>
            <a:r>
              <a:rPr dirty="0"/>
              <a:t> a </a:t>
            </a: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dominios</a:t>
            </a:r>
            <a:r>
              <a:rPr dirty="0"/>
              <a:t> o </a:t>
            </a:r>
            <a:r>
              <a:rPr dirty="0" err="1"/>
              <a:t>sistemas</a:t>
            </a:r>
            <a:r>
              <a:rPr dirty="0"/>
              <a:t> con </a:t>
            </a:r>
            <a:r>
              <a:rPr dirty="0" err="1"/>
              <a:t>estilos</a:t>
            </a:r>
            <a:r>
              <a:rPr dirty="0"/>
              <a:t> y </a:t>
            </a:r>
            <a:r>
              <a:rPr dirty="0" err="1"/>
              <a:t>comportamientos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4. Problemas concretos de navegación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Hallazgos del sitio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Ceasar Calvo Muñoz |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Activar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 </a:t>
            </a:r>
            <a:r>
              <a:rPr dirty="0" err="1"/>
              <a:t>solicita</a:t>
            </a:r>
            <a:r>
              <a:rPr dirty="0"/>
              <a:t> un </a:t>
            </a:r>
            <a:r>
              <a:rPr dirty="0" err="1"/>
              <a:t>código</a:t>
            </a:r>
            <a:r>
              <a:rPr dirty="0"/>
              <a:t> sin </a:t>
            </a:r>
            <a:r>
              <a:rPr dirty="0" err="1"/>
              <a:t>explicar</a:t>
            </a:r>
            <a:r>
              <a:rPr dirty="0"/>
              <a:t> </a:t>
            </a:r>
            <a:r>
              <a:rPr dirty="0" err="1"/>
              <a:t>claramente</a:t>
            </a:r>
            <a:r>
              <a:rPr dirty="0"/>
              <a:t> de </a:t>
            </a:r>
            <a:r>
              <a:rPr dirty="0" err="1"/>
              <a:t>dónde</a:t>
            </a:r>
            <a:r>
              <a:rPr dirty="0"/>
              <a:t> se </a:t>
            </a:r>
            <a:r>
              <a:rPr dirty="0" err="1"/>
              <a:t>obtiene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</a:t>
            </a:r>
            <a:r>
              <a:rPr dirty="0" err="1"/>
              <a:t>modalidades</a:t>
            </a:r>
            <a:r>
              <a:rPr dirty="0"/>
              <a:t> </a:t>
            </a:r>
            <a:r>
              <a:rPr dirty="0" err="1"/>
              <a:t>fiscales</a:t>
            </a:r>
            <a:r>
              <a:rPr dirty="0"/>
              <a:t> se </a:t>
            </a:r>
            <a:r>
              <a:rPr dirty="0" err="1"/>
              <a:t>encuentran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Planes, </a:t>
            </a:r>
            <a:r>
              <a:rPr dirty="0" err="1"/>
              <a:t>pero</a:t>
            </a:r>
            <a:r>
              <a:rPr dirty="0"/>
              <a:t> no se </a:t>
            </a:r>
            <a:r>
              <a:rPr dirty="0" err="1"/>
              <a:t>anticipan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el </a:t>
            </a:r>
            <a:r>
              <a:rPr dirty="0" err="1"/>
              <a:t>menú</a:t>
            </a:r>
            <a:r>
              <a:rPr dirty="0"/>
              <a:t> principal.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Pagar y </a:t>
            </a:r>
            <a:r>
              <a:rPr dirty="0" err="1"/>
              <a:t>Recargar</a:t>
            </a:r>
            <a:r>
              <a:rPr dirty="0"/>
              <a:t> </a:t>
            </a:r>
            <a:r>
              <a:rPr dirty="0" err="1"/>
              <a:t>aparecen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 </a:t>
            </a:r>
            <a:r>
              <a:rPr dirty="0" err="1"/>
              <a:t>lugares</a:t>
            </a:r>
            <a:r>
              <a:rPr dirty="0"/>
              <a:t> y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parecer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“</a:t>
            </a:r>
            <a:r>
              <a:rPr dirty="0" err="1"/>
              <a:t>Acerca</a:t>
            </a:r>
            <a:r>
              <a:rPr dirty="0"/>
              <a:t> de” </a:t>
            </a:r>
            <a:r>
              <a:rPr dirty="0" err="1"/>
              <a:t>mezcla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, </a:t>
            </a:r>
            <a:r>
              <a:rPr dirty="0" err="1"/>
              <a:t>normativa</a:t>
            </a:r>
            <a:r>
              <a:rPr dirty="0"/>
              <a:t> y </a:t>
            </a:r>
            <a:r>
              <a:rPr dirty="0" err="1"/>
              <a:t>política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 </a:t>
            </a:r>
            <a:r>
              <a:rPr dirty="0" err="1"/>
              <a:t>navegación</a:t>
            </a:r>
            <a:r>
              <a:rPr dirty="0"/>
              <a:t> </a:t>
            </a:r>
            <a:r>
              <a:rPr dirty="0" err="1"/>
              <a:t>basada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postback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</a:t>
            </a:r>
            <a:r>
              <a:rPr dirty="0" err="1"/>
              <a:t>compartir</a:t>
            </a:r>
            <a:r>
              <a:rPr dirty="0"/>
              <a:t> enlaces </a:t>
            </a:r>
            <a:r>
              <a:rPr dirty="0" err="1"/>
              <a:t>específicos</a:t>
            </a:r>
            <a:r>
              <a:rPr dirty="0"/>
              <a:t> y usar atrás/</a:t>
            </a:r>
            <a:r>
              <a:rPr dirty="0" err="1"/>
              <a:t>adelante</a:t>
            </a:r>
            <a:r>
              <a:rPr dirty="0"/>
              <a:t> de forma </a:t>
            </a:r>
            <a:r>
              <a:rPr dirty="0" err="1"/>
              <a:t>predecible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Faltan</a:t>
            </a:r>
            <a:r>
              <a:rPr dirty="0"/>
              <a:t> enlaces entre </a:t>
            </a:r>
            <a:r>
              <a:rPr dirty="0" err="1"/>
              <a:t>páginas</a:t>
            </a:r>
            <a:r>
              <a:rPr dirty="0"/>
              <a:t> </a:t>
            </a:r>
            <a:r>
              <a:rPr dirty="0" err="1"/>
              <a:t>relacionadas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, Planes, </a:t>
            </a:r>
            <a:r>
              <a:rPr dirty="0" err="1"/>
              <a:t>normativa</a:t>
            </a:r>
            <a:r>
              <a:rPr dirty="0"/>
              <a:t> y </a:t>
            </a:r>
            <a:r>
              <a:rPr dirty="0" err="1"/>
              <a:t>soporte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5. Usuarios identificados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Diseño centrado en necesidades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Ceasar Calvo Muñoz |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Independientes</a:t>
            </a:r>
            <a:r>
              <a:rPr dirty="0"/>
              <a:t> y </a:t>
            </a:r>
            <a:r>
              <a:rPr dirty="0" err="1"/>
              <a:t>profesionales</a:t>
            </a:r>
            <a:r>
              <a:rPr dirty="0"/>
              <a:t>: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y </a:t>
            </a:r>
            <a:r>
              <a:rPr dirty="0" err="1"/>
              <a:t>emitir</a:t>
            </a:r>
            <a:r>
              <a:rPr dirty="0"/>
              <a:t> </a:t>
            </a:r>
            <a:r>
              <a:rPr dirty="0" err="1"/>
              <a:t>comprobantes</a:t>
            </a:r>
            <a:r>
              <a:rPr dirty="0"/>
              <a:t> </a:t>
            </a:r>
            <a:r>
              <a:rPr dirty="0" err="1"/>
              <a:t>fácilmente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PYMES: </a:t>
            </a:r>
            <a:r>
              <a:rPr dirty="0" err="1"/>
              <a:t>gestionar</a:t>
            </a:r>
            <a:r>
              <a:rPr dirty="0"/>
              <a:t> facturas,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productos</a:t>
            </a:r>
            <a:r>
              <a:rPr dirty="0"/>
              <a:t>, </a:t>
            </a:r>
            <a:r>
              <a:rPr dirty="0" err="1"/>
              <a:t>reportes</a:t>
            </a:r>
            <a:r>
              <a:rPr dirty="0"/>
              <a:t> y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recurrentes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Empresas de alto </a:t>
            </a:r>
            <a:r>
              <a:rPr dirty="0" err="1"/>
              <a:t>volumen</a:t>
            </a:r>
            <a:r>
              <a:rPr dirty="0"/>
              <a:t>: mayor </a:t>
            </a:r>
            <a:r>
              <a:rPr dirty="0" err="1"/>
              <a:t>capacidad</a:t>
            </a:r>
            <a:r>
              <a:rPr dirty="0"/>
              <a:t>, </a:t>
            </a:r>
            <a:r>
              <a:rPr dirty="0" err="1"/>
              <a:t>automatización</a:t>
            </a:r>
            <a:r>
              <a:rPr dirty="0"/>
              <a:t> e </a:t>
            </a:r>
            <a:r>
              <a:rPr dirty="0" err="1"/>
              <a:t>integración</a:t>
            </a:r>
            <a:r>
              <a:rPr dirty="0"/>
              <a:t> con ERP.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Contadores</a:t>
            </a:r>
            <a:r>
              <a:rPr dirty="0"/>
              <a:t>: </a:t>
            </a:r>
            <a:r>
              <a:rPr dirty="0" err="1"/>
              <a:t>consultar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, </a:t>
            </a:r>
            <a:r>
              <a:rPr dirty="0" err="1"/>
              <a:t>normativa</a:t>
            </a:r>
            <a:r>
              <a:rPr dirty="0"/>
              <a:t>, </a:t>
            </a:r>
            <a:r>
              <a:rPr dirty="0" err="1"/>
              <a:t>reportes</a:t>
            </a:r>
            <a:r>
              <a:rPr dirty="0"/>
              <a:t> y </a:t>
            </a:r>
            <a:r>
              <a:rPr dirty="0" err="1"/>
              <a:t>herramientas</a:t>
            </a:r>
            <a:r>
              <a:rPr dirty="0"/>
              <a:t> para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Personas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desean</a:t>
            </a:r>
            <a:r>
              <a:rPr dirty="0"/>
              <a:t> </a:t>
            </a:r>
            <a:r>
              <a:rPr dirty="0" err="1"/>
              <a:t>contratar</a:t>
            </a:r>
            <a:r>
              <a:rPr dirty="0"/>
              <a:t>: </a:t>
            </a:r>
            <a:r>
              <a:rPr dirty="0" err="1"/>
              <a:t>comparar</a:t>
            </a:r>
            <a:r>
              <a:rPr dirty="0"/>
              <a:t> planes, </a:t>
            </a:r>
            <a:r>
              <a:rPr dirty="0" err="1"/>
              <a:t>precios</a:t>
            </a:r>
            <a:r>
              <a:rPr dirty="0"/>
              <a:t>, </a:t>
            </a:r>
            <a:r>
              <a:rPr dirty="0" err="1"/>
              <a:t>beneficios</a:t>
            </a:r>
            <a:r>
              <a:rPr dirty="0"/>
              <a:t> y pasos de </a:t>
            </a:r>
            <a:r>
              <a:rPr dirty="0" err="1"/>
              <a:t>activación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actuales</a:t>
            </a:r>
            <a:r>
              <a:rPr dirty="0"/>
              <a:t>: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, </a:t>
            </a:r>
            <a:r>
              <a:rPr dirty="0" err="1"/>
              <a:t>pagar</a:t>
            </a:r>
            <a:r>
              <a:rPr dirty="0"/>
              <a:t>, </a:t>
            </a:r>
            <a:r>
              <a:rPr dirty="0" err="1"/>
              <a:t>recargar</a:t>
            </a:r>
            <a:r>
              <a:rPr dirty="0"/>
              <a:t> y resolver </a:t>
            </a:r>
            <a:r>
              <a:rPr dirty="0" err="1"/>
              <a:t>incidencias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Usuarios</a:t>
            </a:r>
            <a:r>
              <a:rPr dirty="0"/>
              <a:t> de </a:t>
            </a:r>
            <a:r>
              <a:rPr dirty="0" err="1"/>
              <a:t>soporte</a:t>
            </a:r>
            <a:r>
              <a:rPr dirty="0"/>
              <a:t>: </a:t>
            </a:r>
            <a:r>
              <a:rPr dirty="0" err="1"/>
              <a:t>localizar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, </a:t>
            </a:r>
            <a:r>
              <a:rPr dirty="0" err="1"/>
              <a:t>reglamentos</a:t>
            </a:r>
            <a:r>
              <a:rPr dirty="0"/>
              <a:t> y canales de </a:t>
            </a:r>
            <a:r>
              <a:rPr dirty="0" err="1"/>
              <a:t>ayuda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6. Objetivos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Propósito y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Ceasar Calvo Muñoz |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Objetivo</a:t>
            </a:r>
            <a:r>
              <a:rPr dirty="0"/>
              <a:t> general: </a:t>
            </a:r>
            <a:r>
              <a:rPr dirty="0" err="1"/>
              <a:t>proponer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organización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facilite</a:t>
            </a:r>
            <a:r>
              <a:rPr dirty="0"/>
              <a:t> la </a:t>
            </a:r>
            <a:r>
              <a:rPr dirty="0" err="1"/>
              <a:t>navegación</a:t>
            </a:r>
            <a:r>
              <a:rPr dirty="0"/>
              <a:t> y la </a:t>
            </a:r>
            <a:r>
              <a:rPr dirty="0" err="1"/>
              <a:t>localización</a:t>
            </a:r>
            <a:r>
              <a:rPr dirty="0"/>
              <a:t> de </a:t>
            </a:r>
            <a:r>
              <a:rPr dirty="0" err="1"/>
              <a:t>servicios</a:t>
            </a:r>
            <a:r>
              <a:rPr dirty="0"/>
              <a:t>, </a:t>
            </a:r>
            <a:r>
              <a:rPr dirty="0" err="1"/>
              <a:t>activación</a:t>
            </a:r>
            <a:r>
              <a:rPr dirty="0"/>
              <a:t>, </a:t>
            </a:r>
            <a:r>
              <a:rPr dirty="0" err="1"/>
              <a:t>documentación</a:t>
            </a:r>
            <a:r>
              <a:rPr dirty="0"/>
              <a:t> y </a:t>
            </a:r>
            <a:r>
              <a:rPr dirty="0" err="1"/>
              <a:t>soporte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Identificar</a:t>
            </a:r>
            <a:r>
              <a:rPr dirty="0"/>
              <a:t> la </a:t>
            </a:r>
            <a:r>
              <a:rPr dirty="0" err="1"/>
              <a:t>estructura</a:t>
            </a:r>
            <a:r>
              <a:rPr dirty="0"/>
              <a:t> actual de </a:t>
            </a:r>
            <a:r>
              <a:rPr dirty="0" err="1"/>
              <a:t>contenidos</a:t>
            </a:r>
            <a:r>
              <a:rPr dirty="0"/>
              <a:t> y </a:t>
            </a:r>
            <a:r>
              <a:rPr dirty="0" err="1"/>
              <a:t>navegación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oportunidades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jerarquía</a:t>
            </a:r>
            <a:r>
              <a:rPr dirty="0"/>
              <a:t>, </a:t>
            </a:r>
            <a:r>
              <a:rPr dirty="0" err="1"/>
              <a:t>agrupación</a:t>
            </a:r>
            <a:r>
              <a:rPr dirty="0"/>
              <a:t> y </a:t>
            </a:r>
            <a:r>
              <a:rPr dirty="0" err="1"/>
              <a:t>etiquetado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Organizar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contenidos</a:t>
            </a:r>
            <a:r>
              <a:rPr dirty="0"/>
              <a:t> para </a:t>
            </a:r>
            <a:r>
              <a:rPr dirty="0" err="1"/>
              <a:t>nuevos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actuales</a:t>
            </a:r>
            <a:r>
              <a:rPr dirty="0"/>
              <a:t> y personas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soporte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Proponer</a:t>
            </a:r>
            <a:r>
              <a:rPr dirty="0"/>
              <a:t> </a:t>
            </a:r>
            <a:r>
              <a:rPr dirty="0" err="1"/>
              <a:t>categorías</a:t>
            </a:r>
            <a:r>
              <a:rPr dirty="0"/>
              <a:t> y </a:t>
            </a:r>
            <a:r>
              <a:rPr dirty="0" err="1"/>
              <a:t>etiquetas</a:t>
            </a:r>
            <a:r>
              <a:rPr dirty="0"/>
              <a:t> </a:t>
            </a:r>
            <a:r>
              <a:rPr dirty="0" err="1"/>
              <a:t>comprensibles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pasos para </a:t>
            </a:r>
            <a:r>
              <a:rPr dirty="0" err="1"/>
              <a:t>localizar</a:t>
            </a:r>
            <a:r>
              <a:rPr dirty="0"/>
              <a:t> planes, </a:t>
            </a:r>
            <a:r>
              <a:rPr dirty="0" err="1"/>
              <a:t>activación</a:t>
            </a:r>
            <a:r>
              <a:rPr dirty="0"/>
              <a:t>, </a:t>
            </a:r>
            <a:r>
              <a:rPr dirty="0" err="1"/>
              <a:t>herramientas</a:t>
            </a:r>
            <a:r>
              <a:rPr dirty="0"/>
              <a:t>, </a:t>
            </a:r>
            <a:r>
              <a:rPr dirty="0" err="1"/>
              <a:t>documentos</a:t>
            </a:r>
            <a:r>
              <a:rPr dirty="0"/>
              <a:t> y </a:t>
            </a:r>
            <a:r>
              <a:rPr dirty="0" err="1"/>
              <a:t>soporte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PARTE II · PROPUESTA Y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058400" cy="6400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800" b="0">
                <a:solidFill>
                  <a:srgbClr val="9BDCDC"/>
                </a:solidFill>
                <a:latin typeface="Aptos"/>
              </a:defRPr>
            </a:pPr>
            <a:r>
              <a:t>Nueva estructura, sitemap, jerarquía y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Derrek Ureña Solis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7. Inventario inicial de contenidos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Clasificación del 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Derrek Ureña Solis |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Menú</a:t>
            </a:r>
            <a:r>
              <a:rPr dirty="0"/>
              <a:t> original: </a:t>
            </a:r>
            <a:r>
              <a:rPr dirty="0" err="1"/>
              <a:t>Inicio</a:t>
            </a:r>
            <a:r>
              <a:rPr dirty="0"/>
              <a:t>, </a:t>
            </a:r>
            <a:r>
              <a:rPr dirty="0" err="1"/>
              <a:t>Activar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, Planes, </a:t>
            </a:r>
            <a:r>
              <a:rPr dirty="0" err="1"/>
              <a:t>Servicios</a:t>
            </a:r>
            <a:r>
              <a:rPr dirty="0"/>
              <a:t>, </a:t>
            </a:r>
            <a:r>
              <a:rPr dirty="0" err="1"/>
              <a:t>Herramientas</a:t>
            </a:r>
            <a:r>
              <a:rPr dirty="0"/>
              <a:t>, GTI </a:t>
            </a:r>
            <a:r>
              <a:rPr dirty="0" err="1"/>
              <a:t>Conectividad</a:t>
            </a:r>
            <a:r>
              <a:rPr dirty="0"/>
              <a:t>, </a:t>
            </a:r>
            <a:r>
              <a:rPr dirty="0" err="1"/>
              <a:t>Acerca</a:t>
            </a:r>
            <a:r>
              <a:rPr dirty="0"/>
              <a:t> de y Contacto.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Informativo</a:t>
            </a:r>
            <a:r>
              <a:rPr dirty="0"/>
              <a:t>: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básicos</a:t>
            </a:r>
            <a:r>
              <a:rPr dirty="0"/>
              <a:t>, </a:t>
            </a:r>
            <a:r>
              <a:rPr dirty="0" err="1"/>
              <a:t>leyes</a:t>
            </a:r>
            <a:r>
              <a:rPr dirty="0"/>
              <a:t>, </a:t>
            </a:r>
            <a:r>
              <a:rPr dirty="0" err="1"/>
              <a:t>reglamentos</a:t>
            </a:r>
            <a:r>
              <a:rPr dirty="0"/>
              <a:t> e </a:t>
            </a:r>
            <a:r>
              <a:rPr dirty="0" err="1"/>
              <a:t>información</a:t>
            </a:r>
            <a:r>
              <a:rPr dirty="0"/>
              <a:t> del </a:t>
            </a:r>
            <a:r>
              <a:rPr dirty="0" err="1"/>
              <a:t>servicio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Comercial</a:t>
            </a:r>
            <a:r>
              <a:rPr dirty="0"/>
              <a:t>: planes </a:t>
            </a:r>
            <a:r>
              <a:rPr dirty="0" err="1"/>
              <a:t>prepago</a:t>
            </a:r>
            <a:r>
              <a:rPr dirty="0"/>
              <a:t> y </a:t>
            </a:r>
            <a:r>
              <a:rPr dirty="0" err="1"/>
              <a:t>pospago</a:t>
            </a:r>
            <a:r>
              <a:rPr dirty="0"/>
              <a:t>, </a:t>
            </a:r>
            <a:r>
              <a:rPr dirty="0" err="1"/>
              <a:t>modalidades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perfil</a:t>
            </a:r>
            <a:r>
              <a:rPr dirty="0"/>
              <a:t> fiscal y </a:t>
            </a:r>
            <a:r>
              <a:rPr dirty="0" err="1"/>
              <a:t>botones</a:t>
            </a:r>
            <a:r>
              <a:rPr dirty="0"/>
              <a:t> de </a:t>
            </a:r>
            <a:r>
              <a:rPr dirty="0" err="1"/>
              <a:t>compra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Transaccional</a:t>
            </a:r>
            <a:r>
              <a:rPr dirty="0"/>
              <a:t>: </a:t>
            </a:r>
            <a:r>
              <a:rPr dirty="0" err="1"/>
              <a:t>activación</a:t>
            </a:r>
            <a:r>
              <a:rPr dirty="0"/>
              <a:t>, </a:t>
            </a:r>
            <a:r>
              <a:rPr dirty="0" err="1"/>
              <a:t>pagos</a:t>
            </a:r>
            <a:r>
              <a:rPr dirty="0"/>
              <a:t>, </a:t>
            </a:r>
            <a:r>
              <a:rPr dirty="0" err="1"/>
              <a:t>recargas</a:t>
            </a:r>
            <a:r>
              <a:rPr dirty="0"/>
              <a:t>, </a:t>
            </a:r>
            <a:r>
              <a:rPr dirty="0" err="1"/>
              <a:t>compra</a:t>
            </a:r>
            <a:r>
              <a:rPr dirty="0"/>
              <a:t> y </a:t>
            </a:r>
            <a:r>
              <a:rPr dirty="0" err="1"/>
              <a:t>acceso</a:t>
            </a:r>
            <a:r>
              <a:rPr dirty="0"/>
              <a:t> de </a:t>
            </a:r>
            <a:r>
              <a:rPr dirty="0" err="1"/>
              <a:t>clientes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Herramientas</a:t>
            </a:r>
            <a:r>
              <a:rPr dirty="0"/>
              <a:t>: Q-Declaro, De </a:t>
            </a:r>
            <a:r>
              <a:rPr dirty="0" err="1"/>
              <a:t>Tiquete</a:t>
            </a:r>
            <a:r>
              <a:rPr dirty="0"/>
              <a:t> a Factura, Club de </a:t>
            </a:r>
            <a:r>
              <a:rPr dirty="0" err="1"/>
              <a:t>Contadores</a:t>
            </a:r>
            <a:r>
              <a:rPr dirty="0"/>
              <a:t> e </a:t>
            </a:r>
            <a:r>
              <a:rPr dirty="0" err="1"/>
              <a:t>integración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Soporte</a:t>
            </a:r>
            <a:r>
              <a:rPr dirty="0"/>
              <a:t> e </a:t>
            </a:r>
            <a:r>
              <a:rPr dirty="0" err="1"/>
              <a:t>institucional</a:t>
            </a:r>
            <a:r>
              <a:rPr dirty="0"/>
              <a:t>: </a:t>
            </a:r>
            <a:r>
              <a:rPr dirty="0" err="1"/>
              <a:t>formulario</a:t>
            </a:r>
            <a:r>
              <a:rPr dirty="0"/>
              <a:t>, WhatsApp, </a:t>
            </a:r>
            <a:r>
              <a:rPr dirty="0" err="1"/>
              <a:t>teléfono</a:t>
            </a:r>
            <a:r>
              <a:rPr dirty="0"/>
              <a:t>, </a:t>
            </a:r>
            <a:r>
              <a:rPr dirty="0" err="1"/>
              <a:t>correo</a:t>
            </a:r>
            <a:r>
              <a:rPr dirty="0"/>
              <a:t>, </a:t>
            </a:r>
            <a:r>
              <a:rPr dirty="0" err="1"/>
              <a:t>políticas</a:t>
            </a:r>
            <a:r>
              <a:rPr dirty="0"/>
              <a:t>, </a:t>
            </a:r>
            <a:r>
              <a:rPr dirty="0" err="1"/>
              <a:t>oficinas</a:t>
            </a:r>
            <a:r>
              <a:rPr dirty="0"/>
              <a:t> y apps </a:t>
            </a:r>
            <a:r>
              <a:rPr dirty="0" err="1"/>
              <a:t>móviles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8. Arquitectura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Propuesta inicial (v1): esquemas de organización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10378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5C6978"/>
                </a:solidFill>
                <a:latin typeface="Aptos"/>
              </a:rPr>
              <a:t>Problemas detectados en el sitio actual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251460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200" b="1" i="0">
                <a:solidFill>
                  <a:srgbClr val="9B2C2C"/>
                </a:solidFill>
                <a:latin typeface="Aptos"/>
              </a:rPr>
              <a:t>Agrupación por marca o producto, no por tarea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51460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200" b="1" i="0">
                <a:solidFill>
                  <a:srgbClr val="9B2C2C"/>
                </a:solidFill>
                <a:latin typeface="Aptos"/>
              </a:rPr>
              <a:t>Perfil fiscal oculto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783080"/>
            <a:ext cx="251460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200" b="1" i="0">
                <a:solidFill>
                  <a:srgbClr val="9B2C2C"/>
                </a:solidFill>
                <a:latin typeface="Aptos"/>
              </a:rPr>
              <a:t>Contenido legal aislado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49640" y="1920240"/>
            <a:ext cx="365760" cy="292608"/>
          </a:xfrm>
          <a:prstGeom prst="rightArrow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6840" y="1783080"/>
            <a:ext cx="1965960" cy="566928"/>
          </a:xfrm>
          <a:prstGeom prst="roundRect">
            <a:avLst>
              <a:gd name="adj" fmla="val 20000"/>
            </a:avLst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0" i="0">
                <a:solidFill>
                  <a:srgbClr val="FFFFFF"/>
                </a:solidFill>
                <a:latin typeface="Aptos"/>
              </a:rPr>
              <a:t>Esquema híbrido: </a:t>
            </a:r>
            <a:r>
              <a:rPr sz="1400" b="1" i="0">
                <a:solidFill>
                  <a:srgbClr val="FFFFFF"/>
                </a:solidFill>
                <a:latin typeface="Aptos"/>
              </a:rPr>
              <a:t>tarea + audiencia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97480"/>
            <a:ext cx="24917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697480"/>
            <a:ext cx="2491740" cy="82296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21259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009191"/>
                </a:solidFill>
                <a:latin typeface="Aptos"/>
              </a:rPr>
              <a:t>Por tarea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21259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5C6978"/>
                </a:solidFill>
                <a:latin typeface="Aptos"/>
              </a:rPr>
              <a:t>Lo que el usuario quiere hacer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212598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28303A"/>
                </a:solidFill>
                <a:latin typeface="Aptos"/>
              </a:rPr>
              <a:t>Mi Cuenta (iniciar sesión, activar, pagar, recargar) y Ayuda y Contacto.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23260" y="2697480"/>
            <a:ext cx="24917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23260" y="2697480"/>
            <a:ext cx="2491740" cy="82296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06140" y="2971800"/>
            <a:ext cx="21259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1F5B96"/>
                </a:solidFill>
                <a:latin typeface="Aptos"/>
              </a:rPr>
              <a:t>Por audiencia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6140" y="3429000"/>
            <a:ext cx="21259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5C6978"/>
                </a:solidFill>
                <a:latin typeface="Aptos"/>
              </a:rPr>
              <a:t>Quién es el usuario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6140" y="3886200"/>
            <a:ext cx="212598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28303A"/>
                </a:solidFill>
                <a:latin typeface="Aptos"/>
              </a:rPr>
              <a:t>Planes segmentados por perfil fiscal: Persona Física, Jurídica, REA y 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2697480"/>
            <a:ext cx="24917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2697480"/>
            <a:ext cx="2491740" cy="82296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2971800"/>
            <a:ext cx="21259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6B5CA5"/>
                </a:solidFill>
                <a:latin typeface="Aptos"/>
              </a:rPr>
              <a:t>Temático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429000"/>
            <a:ext cx="21259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5C6978"/>
                </a:solidFill>
                <a:latin typeface="Aptos"/>
              </a:rPr>
              <a:t>Agrupación por tema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886200"/>
            <a:ext cx="212598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28303A"/>
                </a:solidFill>
                <a:latin typeface="Aptos"/>
              </a:rPr>
              <a:t>Herramientas y Recursos (productos complementarios) y Nosotros (institucional).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1060" y="2697480"/>
            <a:ext cx="24917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81060" y="2697480"/>
            <a:ext cx="2491740" cy="82296"/>
          </a:xfrm>
          <a:prstGeom prst="rect">
            <a:avLst/>
          </a:prstGeom>
          <a:solidFill>
            <a:srgbClr val="14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63940" y="2971800"/>
            <a:ext cx="21259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14253F"/>
                </a:solidFill>
                <a:latin typeface="Aptos"/>
              </a:rPr>
              <a:t>Estructura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3940" y="3429000"/>
            <a:ext cx="21259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5C6978"/>
                </a:solidFill>
                <a:latin typeface="Aptos"/>
              </a:rPr>
              <a:t>Jerárquica de 3 niveles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3940" y="3886200"/>
            <a:ext cx="212598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28303A"/>
                </a:solidFill>
                <a:latin typeface="Aptos"/>
              </a:rPr>
              <a:t>Inicio → categoría → subcategoría, con enlaces contextuales entre secciones relacionadas.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9. Categorías principales y subcategorías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Propuesta inicial (v1) · 5 categorías · 20 subcategorías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19659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965960" cy="731520"/>
          </a:xfrm>
          <a:prstGeom prst="roundRect">
            <a:avLst>
              <a:gd name="adj" fmla="val 12000"/>
            </a:avLst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1965960" cy="274320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563624"/>
            <a:ext cx="1746504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Planes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00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1F5B96"/>
                </a:solidFill>
                <a:latin typeface="Aptos"/>
              </a:rPr>
              <a:t>Audiencia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70632"/>
            <a:ext cx="45720" cy="164592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715768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Persona Física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18104"/>
            <a:ext cx="45720" cy="164592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063240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Persona Jurídica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65576"/>
            <a:ext cx="45720" cy="530352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410712"/>
            <a:ext cx="16002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Régimen Especial Agropecuario (REA)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78808"/>
            <a:ext cx="45720" cy="347472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123944"/>
            <a:ext cx="1600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Régimen Simplificado (RS)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1508760"/>
            <a:ext cx="19659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97480" y="1508760"/>
            <a:ext cx="1965960" cy="731520"/>
          </a:xfrm>
          <a:prstGeom prst="roundRect">
            <a:avLst>
              <a:gd name="adj" fmla="val 12000"/>
            </a:avLst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97480" y="1965960"/>
            <a:ext cx="1965960" cy="2743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1563624"/>
            <a:ext cx="1746504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Mi Cuenta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23500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009191"/>
                </a:solidFill>
                <a:latin typeface="Aptos"/>
              </a:rPr>
              <a:t>Tarea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770632"/>
            <a:ext cx="45720" cy="16459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3512" y="2715768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Iniciar sesión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118104"/>
            <a:ext cx="45720" cy="16459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53512" y="3063240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Activar cuenta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465576"/>
            <a:ext cx="45720" cy="16459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53512" y="3410712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Pagar facturación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813048"/>
            <a:ext cx="45720" cy="16459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3512" y="3758184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Recargar prepago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1508760"/>
            <a:ext cx="19659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800600" y="1508760"/>
            <a:ext cx="1965960" cy="73152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00600" y="1965960"/>
            <a:ext cx="1965960" cy="274320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10328" y="1563624"/>
            <a:ext cx="1746504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Herramientas y Recursos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23500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6B5CA5"/>
                </a:solidFill>
                <a:latin typeface="Aptos"/>
              </a:rPr>
              <a:t>Temático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770632"/>
            <a:ext cx="45720" cy="347472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56632" y="2715768"/>
            <a:ext cx="1600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Q-Declaro</a:t>
            </a:r>
            <a:r>
              <a:rPr sz="1000" b="1" i="0">
                <a:solidFill>
                  <a:srgbClr val="B4531A"/>
                </a:solidFill>
                <a:latin typeface="Aptos"/>
              </a:rPr>
              <a:t>  ↗ externo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300984"/>
            <a:ext cx="45720" cy="347472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56632" y="3246120"/>
            <a:ext cx="1600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De Tiquete a Factura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3831336"/>
            <a:ext cx="45720" cy="164592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56632" y="3776472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Club de Contadores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4178808"/>
            <a:ext cx="45720" cy="347472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56632" y="4123944"/>
            <a:ext cx="1600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Sistema anterior</a:t>
            </a:r>
            <a:r>
              <a:rPr sz="1000" b="1" i="0">
                <a:solidFill>
                  <a:srgbClr val="B4531A"/>
                </a:solidFill>
                <a:latin typeface="Aptos"/>
              </a:rPr>
              <a:t>  ↗ legado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1508760"/>
            <a:ext cx="19659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903720" y="1508760"/>
            <a:ext cx="1965960" cy="731520"/>
          </a:xfrm>
          <a:prstGeom prst="roundRect">
            <a:avLst>
              <a:gd name="adj" fmla="val 12000"/>
            </a:avLst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903720" y="1965960"/>
            <a:ext cx="1965960" cy="274320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13448" y="1563624"/>
            <a:ext cx="1746504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Nosotros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0880" y="23500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6B5CA5"/>
                </a:solidFill>
                <a:latin typeface="Aptos"/>
              </a:rPr>
              <a:t>Temático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2770632"/>
            <a:ext cx="45720" cy="164592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59752" y="2715768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Nuestro servicio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3118104"/>
            <a:ext cx="45720" cy="164592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59752" y="3063240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GTI Conectividad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3465576"/>
            <a:ext cx="45720" cy="164592"/>
          </a:xfrm>
          <a:prstGeom prst="rect">
            <a:avLst/>
          </a:prstGeom>
          <a:solidFill>
            <a:srgbClr val="6B5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59752" y="3410712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Programa 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06840" y="1508760"/>
            <a:ext cx="19659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006840" y="1508760"/>
            <a:ext cx="1965960" cy="731520"/>
          </a:xfrm>
          <a:prstGeom prst="roundRect">
            <a:avLst>
              <a:gd name="adj" fmla="val 12000"/>
            </a:avLst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006840" y="1965960"/>
            <a:ext cx="1965960" cy="2743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116568" y="1563624"/>
            <a:ext cx="1746504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Ayuda y Contacto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44000" y="23500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009191"/>
                </a:solidFill>
                <a:latin typeface="Aptos"/>
              </a:rPr>
              <a:t>Tarea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2770632"/>
            <a:ext cx="45720" cy="34747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62872" y="2715768"/>
            <a:ext cx="1600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Leyes y reglamentos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3300984"/>
            <a:ext cx="45720" cy="53035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62872" y="3246120"/>
            <a:ext cx="16002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Política de Administración de Datos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4014216"/>
            <a:ext cx="45720" cy="34747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62872" y="3959352"/>
            <a:ext cx="1600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Formulario de contacto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4544568"/>
            <a:ext cx="45720" cy="16459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62872" y="4489704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Chatbot / WhatsApp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4892040"/>
            <a:ext cx="45720" cy="347472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62872" y="4837176"/>
            <a:ext cx="1600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Descarga de app móvil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550408"/>
            <a:ext cx="10378440" cy="365760"/>
          </a:xfrm>
          <a:prstGeom prst="roundRect">
            <a:avLst>
              <a:gd name="adj" fmla="val 2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228600" bIns="18288" rtlCol="0" anchor="ctr"/>
          <a:lstStyle/>
          <a:p>
            <a:pPr algn="l"/>
            <a:r>
              <a:rPr sz="1300" b="1" i="0">
                <a:solidFill>
                  <a:srgbClr val="006B6B"/>
                </a:solidFill>
                <a:latin typeface="Aptos"/>
              </a:rPr>
              <a:t>Planes y Mi Cuenta van primero: concentran las tareas más frecuentes (contratar, activar, pagar, recargar).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5550408"/>
            <a:ext cx="73152" cy="3657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10. Agrupación del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Del inventario original a la propuesta inicial (v1)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378438" cy="3566160"/>
        </p:xfrm>
        <a:graphic>
          <a:graphicData uri="http://schemas.openxmlformats.org/drawingml/2006/table">
            <a:tbl>
              <a:tblPr/>
              <a:tblGrid>
                <a:gridCol w="1928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4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4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Nueva categoría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Contenido que recibe (origen)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Justificación del cambio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53F"/>
                          </a:solidFill>
                          <a:latin typeface="Aptos"/>
                        </a:rPr>
                        <a:t>Mi Cuenta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Login de cliente (solo en Home) · Activar Cuenta (menú) · Pagar facturación y Recargar prepago (antes «Servicios»)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Las acciones transaccionales se agrupan por tarea; el login pasa a ser un acceso persistente en el header.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53F"/>
                          </a:solidFill>
                          <a:latin typeface="Aptos"/>
                        </a:rPr>
                        <a:t>Planes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Persona Física, Persona Jurídica, REA y RS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La segmentación por perfil fiscal, antes oculta, ahora es visible desde el menú.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53F"/>
                          </a:solidFill>
                          <a:latin typeface="Aptos"/>
                        </a:rPr>
                        <a:t>Herramientas y Recursos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Q-Declaro · De Tiquete a Factura · Club de Contadores · Ingresar al sistema anterior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Son utilidades de producto, no servicios de cuenta. Q-Declaro se marca «externo» y el sistema anterior «legado».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53F"/>
                          </a:solidFill>
                          <a:latin typeface="Aptos"/>
                        </a:rPr>
                        <a:t>Nosotros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GTI Conectividad (menú) · Nuestro servicio y Programa L (Acerca de)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Contenido institucional; Nuestro servicio ya no comparte menú con leyes ni con la política de datos.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53F"/>
                          </a:solidFill>
                          <a:latin typeface="Aptos"/>
                        </a:rPr>
                        <a:t>Ayuda y Contacto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Leyes y reglamentos · Política de Administración de Datos · Formulario · Chatbot / WhatsApp / teléfono · Apps móviles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Se consultan en momentos de duda, cerca del soporte. El chat, antes disperso, pasa a botón flotante persistente.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550408"/>
            <a:ext cx="10378440" cy="365760"/>
          </a:xfrm>
          <a:prstGeom prst="roundRect">
            <a:avLst>
              <a:gd name="adj" fmla="val 2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228600" bIns="18288" rtlCol="0" anchor="ctr"/>
          <a:lstStyle/>
          <a:p>
            <a:pPr algn="l"/>
            <a:r>
              <a:rPr sz="1300" b="1" i="0">
                <a:solidFill>
                  <a:srgbClr val="006B6B"/>
                </a:solidFill>
                <a:latin typeface="Aptos"/>
              </a:rPr>
              <a:t>Los banners «Pague» / «Recargue» se eliminan como duplicado de Mi Cuenta: reduce la triple duplicación.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550408"/>
            <a:ext cx="73152" cy="3657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11. Sitemap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Propuesta inicial (v1) diseñada en FlowMapp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7589520" cy="364750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i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7406640" cy="3464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339149"/>
            <a:ext cx="7406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5C6978"/>
                </a:solidFill>
                <a:latin typeface="Aptos"/>
              </a:rPr>
              <a:t>Sitemap en FlowMapp: Inicio → 5 categorías → 20 subcategorías.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600200"/>
            <a:ext cx="26060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8686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09191"/>
                </a:solidFill>
                <a:latin typeface="Aptos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600200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páginas totales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651760"/>
            <a:ext cx="26060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8686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09191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51760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categorías (nivel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703320"/>
            <a:ext cx="26060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3703320"/>
            <a:ext cx="8686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09191"/>
                </a:solidFill>
                <a:latin typeface="Aptos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03320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subcategorías (nivel 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4754880"/>
            <a:ext cx="26060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4754880"/>
            <a:ext cx="8686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009191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754880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externos / legados (Q-Declaro, Sistema anterior)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12. Decisiones del sitemap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Decisiones de la propuesta inicial (v1)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743200" cy="4343400"/>
          </a:xfrm>
          <a:prstGeom prst="roundRect">
            <a:avLst>
              <a:gd name="adj" fmla="val 6000"/>
            </a:avLst>
          </a:prstGeom>
          <a:solidFill>
            <a:srgbClr val="14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27432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ptos"/>
              </a:rPr>
              <a:t>2 clics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286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0" i="0">
                <a:solidFill>
                  <a:srgbClr val="C9D6E6"/>
                </a:solidFill>
                <a:latin typeface="Aptos"/>
              </a:rPr>
              <a:t>Profundidad máxima desde Inicio hasta cualquier contenido.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554480"/>
            <a:ext cx="7406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1554480"/>
            <a:ext cx="201168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009191"/>
                </a:solidFill>
                <a:latin typeface="Aptos"/>
              </a:rPr>
              <a:t>Prioridad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554480"/>
            <a:ext cx="493776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Planes y Mi Cuenta van primero porque concentran las tareas más frecuentes.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665476"/>
            <a:ext cx="7406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2665476"/>
            <a:ext cx="201168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009191"/>
                </a:solidFill>
                <a:latin typeface="Aptos"/>
              </a:rPr>
              <a:t>Destinos externos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665476"/>
            <a:ext cx="493776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Q-Declaro y Sistema anterior se identifican en el sitemap y en el menú.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776472"/>
            <a:ext cx="7406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60" y="3776472"/>
            <a:ext cx="201168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009191"/>
                </a:solidFill>
                <a:latin typeface="Aptos"/>
              </a:rPr>
              <a:t>Enlaces contextuales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776472"/>
            <a:ext cx="493776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Planes → Leyes y reglamentos · Activar cuenta → Registro en Hacienda · Planes → Activar cuenta · Persona Jurídica → GTI Conectividad.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887468"/>
            <a:ext cx="7406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60" y="4887468"/>
            <a:ext cx="201168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009191"/>
                </a:solidFill>
                <a:latin typeface="Aptos"/>
              </a:rPr>
              <a:t>Nodos persistentes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887468"/>
            <a:ext cx="493776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Iniciar sesión (header) · Descargar app (barra superior) · Chat/WhatsApp (botón flotante) · Footer como mapa del sitio.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13. Jerarquía de la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Organización jerárquica modelada en Octopus.do (v1, actualizada luego a la 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4937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109728" cy="1051560"/>
          </a:xfrm>
          <a:prstGeom prst="rect">
            <a:avLst/>
          </a:prstGeom>
          <a:solidFill>
            <a:srgbClr val="14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14253F"/>
                </a:solidFill>
                <a:latin typeface="Aptos"/>
              </a:rPr>
              <a:t>NIVEL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45720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14253F"/>
                </a:solidFill>
                <a:latin typeface="Aptos"/>
              </a:rPr>
              <a:t>Categoría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95144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5C6978"/>
                </a:solidFill>
                <a:latin typeface="Aptos"/>
              </a:rPr>
              <a:t>Ej.: Planes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143000" y="2679192"/>
            <a:ext cx="256032" cy="274320"/>
          </a:xfrm>
          <a:prstGeom prst="down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2990088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840" y="2990088"/>
            <a:ext cx="109728" cy="1051560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099816"/>
            <a:ext cx="4160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1F5B96"/>
                </a:solidFill>
                <a:latin typeface="Aptos"/>
              </a:rPr>
              <a:t>NIVEL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55848"/>
            <a:ext cx="4160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14253F"/>
                </a:solidFill>
                <a:latin typeface="Aptos"/>
              </a:rPr>
              <a:t>Subcategoría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85032"/>
            <a:ext cx="4160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5C6978"/>
                </a:solidFill>
                <a:latin typeface="Aptos"/>
              </a:rPr>
              <a:t>Ej.: Persona Jurídica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554480" y="4069080"/>
            <a:ext cx="256032" cy="274320"/>
          </a:xfrm>
          <a:prstGeom prst="down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417320" y="4379976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17320" y="4379976"/>
            <a:ext cx="109728" cy="10515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91640" y="4489704"/>
            <a:ext cx="3749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009191"/>
                </a:solidFill>
                <a:latin typeface="Aptos"/>
              </a:rPr>
              <a:t>NIVEL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745736"/>
            <a:ext cx="3749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14253F"/>
                </a:solidFill>
                <a:latin typeface="Aptos"/>
              </a:rPr>
              <a:t>Contenido específico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74920"/>
            <a:ext cx="3749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5C6978"/>
                </a:solidFill>
                <a:latin typeface="Aptos"/>
              </a:rPr>
              <a:t>Bloques de cada página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1600200"/>
            <a:ext cx="507492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2200" y="18288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Octopus.do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286000"/>
            <a:ext cx="4526280" cy="3108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4253F"/>
                </a:solidFill>
                <a:latin typeface="Aptos"/>
              </a:rPr>
              <a:t>Cada tarjeta es una página </a:t>
            </a:r>
            <a:r>
              <a:rPr sz="1400" b="0" i="0">
                <a:solidFill>
                  <a:srgbClr val="28303A"/>
                </a:solidFill>
                <a:latin typeface="Aptos"/>
              </a:rPr>
              <a:t>y sus bloques son las secciones, ordenados por prioridad de arriba hacia abajo.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4253F"/>
                </a:solidFill>
                <a:latin typeface="Aptos"/>
              </a:rPr>
              <a:t>Prioriza la contratación y el uso del servicio: </a:t>
            </a:r>
            <a:r>
              <a:rPr sz="1400" b="0" i="0">
                <a:solidFill>
                  <a:srgbClr val="28303A"/>
                </a:solidFill>
                <a:latin typeface="Aptos"/>
              </a:rPr>
              <a:t>Planes y Mi Cuenta son las primeras categorías.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4253F"/>
                </a:solidFill>
                <a:latin typeface="Aptos"/>
              </a:rPr>
              <a:t>Separa </a:t>
            </a:r>
            <a:r>
              <a:rPr sz="1400" b="0" i="0">
                <a:solidFill>
                  <a:srgbClr val="28303A"/>
                </a:solidFill>
                <a:latin typeface="Aptos"/>
              </a:rPr>
              <a:t>lo informativo, lo institucional y el soporte.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800600"/>
            <a:ext cx="4526280" cy="502920"/>
          </a:xfrm>
          <a:prstGeom prst="roundRect">
            <a:avLst>
              <a:gd name="adj" fmla="val 20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182880" bIns="18288" rtlCol="0" anchor="ctr"/>
          <a:lstStyle/>
          <a:p>
            <a:pPr algn="l"/>
            <a:r>
              <a:rPr sz="1250" b="0" i="0">
                <a:solidFill>
                  <a:srgbClr val="5C6978"/>
                </a:solidFill>
                <a:latin typeface="Aptos"/>
              </a:rPr>
              <a:t>Tablero actualizado a la v2: </a:t>
            </a:r>
            <a:r>
              <a:rPr sz="1250" b="1" i="0">
                <a:solidFill>
                  <a:srgbClr val="1F5B96"/>
                </a:solidFill>
                <a:latin typeface="Aptos"/>
                <a:hlinkClick r:id="rId2"/>
              </a:rPr>
              <a:t>octopus.do/ehdjf242j8h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14. Sistema de etiquetado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Etiquetas de la propuesta inicial (v1); el sitemap final reubica GTI Conectividad y reemplaza Mi Cuenta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0378439" cy="4069080"/>
        </p:xfrm>
        <a:graphic>
          <a:graphicData uri="http://schemas.openxmlformats.org/drawingml/2006/table">
            <a:tbl>
              <a:tblPr/>
              <a:tblGrid>
                <a:gridCol w="3004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7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Etiqueta anterior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Nueva etiqueta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Justificación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Servicios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Mi Cuenta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Identifica que las opciones son acciones de la cuenta.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Herramientas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Herramientas y Recursos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Describe mejor la variedad de productos y utilidades.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Acerca de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Nosotros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Agrupa con más claridad la información institucional.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Contacto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Ayuda y Contacto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Incluye los canales de contacto y las opciones de ayuda.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Activar Cuenta (menú principal)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Mi Cuenta → Activar cuenta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Se relaciona con las demás acciones del cliente.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Leyes y reglamentos (en Acerca de)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Ayuda y Contacto → Leyes y reglamentos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Facilita encontrar la normativa cuando hay dudas.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GTI Conectividad (menú principal)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Nosotros → GTI Conectividad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Se presenta como producto o servicio institucional.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«¿Ya es cliente de GTI?»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Iniciar sesión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Verbo de acción estándar, visible en todas las páginas.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Ingresar al sistema anterior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Sistema anterior + «legado»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Avisa que se cambia de sistema y de sesión.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C6978"/>
                          </a:solidFill>
                          <a:latin typeface="Aptos"/>
                        </a:rPr>
                        <a:t>Q-Declaro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6B6B"/>
                          </a:solidFill>
                          <a:latin typeface="Aptos"/>
                        </a:rPr>
                        <a:t>Q-Declaro + «externo»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8303A"/>
                          </a:solidFill>
                          <a:latin typeface="Aptos"/>
                        </a:rPr>
                        <a:t>Avisa que se sale del dominio principal.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59552"/>
            <a:ext cx="10378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 i="0">
                <a:solidFill>
                  <a:srgbClr val="5C6978"/>
                </a:solidFill>
                <a:latin typeface="Aptos"/>
              </a:rPr>
              <a:t>Se evitan términos genéricos («Servicios», «Herramientas», «Acerca de») y nombres de marca sin contexto como categoría.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15. Reglas de etiquetado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Criterios aplicados de forma consistente en todo el sitio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368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55648"/>
            <a:ext cx="23622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14253F"/>
                </a:solidFill>
                <a:latin typeface="Aptos"/>
              </a:rPr>
              <a:t>Acciones en infinitivo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2"/>
            <a:ext cx="29108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Iniciar sesión · Activar cuenta · Pagar facturación · Recargar prepago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9560" y="1554480"/>
            <a:ext cx="3368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28160" y="1783080"/>
            <a:ext cx="457200" cy="457200"/>
          </a:xfrm>
          <a:prstGeom prst="ellipse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2520" y="1755648"/>
            <a:ext cx="23622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14253F"/>
                </a:solidFill>
                <a:latin typeface="Aptos"/>
              </a:rPr>
              <a:t>Categorías como sustantivos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160" y="2450592"/>
            <a:ext cx="29108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Planes · Herramientas y Recursos · Nosotros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4760" y="1554480"/>
            <a:ext cx="3368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33360" y="1783080"/>
            <a:ext cx="457200" cy="457200"/>
          </a:xfrm>
          <a:prstGeom prst="ellipse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7720" y="1755648"/>
            <a:ext cx="23622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14253F"/>
                </a:solidFill>
                <a:latin typeface="Aptos"/>
              </a:rPr>
              <a:t>Vocabulario del usuario y de Hacienda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3360" y="2450592"/>
            <a:ext cx="29108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Persona Física · Persona Jurídica · Régimen Simplificado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94760"/>
            <a:ext cx="3368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95928"/>
            <a:ext cx="23622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14253F"/>
                </a:solidFill>
                <a:latin typeface="Aptos"/>
              </a:rPr>
              <a:t>Etiquetas de estado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90872"/>
            <a:ext cx="29108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«externo» y «legado» cuando el destino cambia de sitio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9560" y="3794760"/>
            <a:ext cx="3368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4328160" y="4023360"/>
            <a:ext cx="457200" cy="457200"/>
          </a:xfrm>
          <a:prstGeom prst="ellipse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2520" y="3995928"/>
            <a:ext cx="23622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14253F"/>
                </a:solidFill>
                <a:latin typeface="Aptos"/>
              </a:rPr>
              <a:t>Consistencia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8160" y="4690872"/>
            <a:ext cx="29108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Misma etiqueta en menú, migas de pan, títulos (h1), footer y sitemap; todas salen de js/sitemap-data.js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04760" y="3794760"/>
            <a:ext cx="3368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33360" y="4023360"/>
            <a:ext cx="457200" cy="457200"/>
          </a:xfrm>
          <a:prstGeom prst="ellipse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720" y="3995928"/>
            <a:ext cx="23622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14253F"/>
                </a:solidFill>
                <a:latin typeface="Aptos"/>
              </a:rPr>
              <a:t>Mayúscula solo inicial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3360" y="4690872"/>
            <a:ext cx="29108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8303A"/>
                </a:solidFill>
                <a:latin typeface="Aptos"/>
              </a:rPr>
              <a:t>En subcategorías: «Activar cuenta», no «Activar Cuenta»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16. Validación de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Optimal Workshop aplicado sobre la propuesta inicial (v1)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0520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5052060" cy="82296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OptimalSort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45034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100" b="1" i="0">
                <a:solidFill>
                  <a:srgbClr val="14253F"/>
                </a:solidFill>
                <a:latin typeface="Aptos"/>
              </a:rPr>
              <a:t>Card sorting cerrado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45034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5C6978"/>
                </a:solidFill>
                <a:latin typeface="Aptos"/>
              </a:rPr>
              <a:t>¿Agrupan los usuarios los contenidos en las categorías propuestas?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428999"/>
            <a:ext cx="4503420" cy="952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02151"/>
            <a:ext cx="13258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4253F"/>
                </a:solidFill>
                <a:latin typeface="Aptos"/>
              </a:rPr>
              <a:t>Categorías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502151"/>
            <a:ext cx="31318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Las 5 de la propuesta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087367"/>
            <a:ext cx="4503420" cy="952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160519"/>
            <a:ext cx="13258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4253F"/>
                </a:solidFill>
                <a:latin typeface="Aptos"/>
              </a:rPr>
              <a:t>Tarjetas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160519"/>
            <a:ext cx="31318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27, del inventario de contenidos, con descripción breve y sin el nombre de la categoría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745735"/>
            <a:ext cx="4503420" cy="952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20740" y="1554480"/>
            <a:ext cx="50520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20740" y="1554480"/>
            <a:ext cx="5052060" cy="82296"/>
          </a:xfrm>
          <a:prstGeom prst="rect">
            <a:avLst/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95060" y="18288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F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Treejack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5060" y="2240280"/>
            <a:ext cx="45034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100" b="1" i="0">
                <a:solidFill>
                  <a:srgbClr val="14253F"/>
                </a:solidFill>
                <a:latin typeface="Aptos"/>
              </a:rPr>
              <a:t>Tree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5060" y="2697480"/>
            <a:ext cx="45034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5C6978"/>
                </a:solidFill>
                <a:latin typeface="Aptos"/>
              </a:rPr>
              <a:t>¿Encuentran contenidos concretos navegando el árbol del sitemap?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5060" y="3428999"/>
            <a:ext cx="4503420" cy="952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5060" y="3502151"/>
            <a:ext cx="13258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4253F"/>
                </a:solidFill>
                <a:latin typeface="Aptos"/>
              </a:rPr>
              <a:t>Árbol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6660" y="3502151"/>
            <a:ext cx="31318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Sitemap propuesto: Inicio → 5 categorías → 20 subcategorías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5060" y="4087367"/>
            <a:ext cx="4503420" cy="952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5060" y="4160519"/>
            <a:ext cx="13258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4253F"/>
                </a:solidFill>
                <a:latin typeface="Aptos"/>
              </a:rPr>
              <a:t>Tareas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6660" y="4160519"/>
            <a:ext cx="31318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8 escenarios redactados sin repetir las etiquetas del árbol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5060" y="4745735"/>
            <a:ext cx="4503420" cy="952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94360" y="5550408"/>
            <a:ext cx="10378440" cy="365760"/>
          </a:xfrm>
          <a:prstGeom prst="roundRect">
            <a:avLst>
              <a:gd name="adj" fmla="val 2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228600" bIns="18288" rtlCol="0" anchor="ctr"/>
          <a:lstStyle/>
          <a:p>
            <a:pPr algn="l"/>
            <a:r>
              <a:rPr sz="1300" b="1" i="0" dirty="0">
                <a:solidFill>
                  <a:srgbClr val="006B6B"/>
                </a:solidFill>
                <a:latin typeface="Aptos"/>
              </a:rPr>
              <a:t>Con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participantes</a:t>
            </a:r>
            <a:r>
              <a:rPr lang="en-US" sz="1300" b="1" i="0" dirty="0">
                <a:solidFill>
                  <a:srgbClr val="006B6B"/>
                </a:solidFill>
                <a:latin typeface="Aptos"/>
              </a:rPr>
              <a:t> </a:t>
            </a:r>
            <a:r>
              <a:rPr lang="en-US" sz="1300" b="1" i="0" dirty="0" err="1">
                <a:solidFill>
                  <a:srgbClr val="006B6B"/>
                </a:solidFill>
                <a:latin typeface="Aptos"/>
              </a:rPr>
              <a:t>limitados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por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estudio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,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los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resultados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 son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indicativos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 y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sirven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 para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detectar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 puntos </a:t>
            </a:r>
            <a:r>
              <a:rPr sz="1300" b="1" i="0" dirty="0" err="1">
                <a:solidFill>
                  <a:srgbClr val="006B6B"/>
                </a:solidFill>
                <a:latin typeface="Aptos"/>
              </a:rPr>
              <a:t>débiles</a:t>
            </a:r>
            <a:r>
              <a:rPr sz="1300" b="1" i="0" dirty="0">
                <a:solidFill>
                  <a:srgbClr val="006B6B"/>
                </a:solidFill>
                <a:latin typeface="Aptos"/>
              </a:rPr>
              <a:t>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550408"/>
            <a:ext cx="73152" cy="3657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17. Card sorting (OptimalSort):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Optimal Workshop · Porcentaje de acuerdo por categoría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5778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1737360"/>
          <a:ext cx="52120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4754880"/>
            <a:ext cx="50292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009191"/>
                </a:solidFill>
                <a:latin typeface="Aptos"/>
              </a:rPr>
              <a:t>75,6 %</a:t>
            </a:r>
            <a:r>
              <a:rPr sz="1300" b="0" i="0">
                <a:solidFill>
                  <a:srgbClr val="5C6978"/>
                </a:solidFill>
                <a:latin typeface="Aptos"/>
              </a:rPr>
              <a:t>  acuerdo promedio · 27 tarjetas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08760"/>
            <a:ext cx="45262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1691640"/>
            <a:ext cx="3977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4253F"/>
                </a:solidFill>
                <a:latin typeface="Aptos"/>
              </a:rPr>
              <a:t>Acuerdo total (2/2) con la propuesta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48840"/>
            <a:ext cx="3977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009191"/>
                </a:solidFill>
                <a:latin typeface="Aptos"/>
              </a:rPr>
              <a:t>Mi Cuenta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39776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Activar cuenta · Iniciar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34640"/>
            <a:ext cx="3977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009191"/>
                </a:solidFill>
                <a:latin typeface="Aptos"/>
              </a:rPr>
              <a:t>Planes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090672"/>
            <a:ext cx="39776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Los cuatro perfiles de planes · Comprar un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520440"/>
            <a:ext cx="3977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009191"/>
                </a:solidFill>
                <a:latin typeface="Aptos"/>
              </a:rPr>
              <a:t>Ayuda y Contacto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76472"/>
            <a:ext cx="39776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Chat y WhatsApp · Formulario de contacto · Teléfono y correo de soporte · Oficinas y horarios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370832"/>
            <a:ext cx="3977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009191"/>
                </a:solidFill>
                <a:latin typeface="Aptos"/>
              </a:rPr>
              <a:t>Herramientas y Recursos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626864"/>
            <a:ext cx="39776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8303A"/>
                </a:solidFill>
                <a:latin typeface="Aptos"/>
              </a:rPr>
              <a:t>Q-Declaro · De Tiquete a Factura · Sistema anterior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550408"/>
            <a:ext cx="10378440" cy="365760"/>
          </a:xfrm>
          <a:prstGeom prst="roundRect">
            <a:avLst>
              <a:gd name="adj" fmla="val 2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228600" bIns="18288" rtlCol="0" anchor="ctr"/>
          <a:lstStyle/>
          <a:p>
            <a:pPr algn="l"/>
            <a:r>
              <a:rPr sz="1300" b="1" i="0">
                <a:solidFill>
                  <a:srgbClr val="006B6B"/>
                </a:solidFill>
                <a:latin typeface="Aptos"/>
              </a:rPr>
              <a:t>Las tarjetas de acción y los planes se asociaron bien con su categoría.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550408"/>
            <a:ext cx="73152" cy="3657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18. Card sorting: discrepancias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5C6978"/>
                </a:solidFill>
                <a:latin typeface="Aptos"/>
              </a:rPr>
              <a:t>Optimal Workshop · </a:t>
            </a:r>
            <a:r>
              <a:rPr sz="1300" b="0" i="0" dirty="0" err="1">
                <a:solidFill>
                  <a:srgbClr val="5C6978"/>
                </a:solidFill>
                <a:latin typeface="Aptos"/>
              </a:rPr>
              <a:t>Dónde</a:t>
            </a:r>
            <a:r>
              <a:rPr sz="1300" b="0" i="0" dirty="0">
                <a:solidFill>
                  <a:srgbClr val="5C6978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5C6978"/>
                </a:solidFill>
                <a:latin typeface="Aptos"/>
              </a:rPr>
              <a:t>los</a:t>
            </a:r>
            <a:r>
              <a:rPr sz="1300" b="0" i="0" dirty="0">
                <a:solidFill>
                  <a:srgbClr val="5C6978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5C6978"/>
                </a:solidFill>
                <a:latin typeface="Aptos"/>
              </a:rPr>
              <a:t>participantes</a:t>
            </a:r>
            <a:r>
              <a:rPr sz="1300" b="0" i="0" dirty="0">
                <a:solidFill>
                  <a:srgbClr val="5C6978"/>
                </a:solidFill>
                <a:latin typeface="Aptos"/>
              </a:rPr>
              <a:t> no </a:t>
            </a:r>
            <a:r>
              <a:rPr sz="1300" b="0" i="0" dirty="0" err="1">
                <a:solidFill>
                  <a:srgbClr val="5C6978"/>
                </a:solidFill>
                <a:latin typeface="Aptos"/>
              </a:rPr>
              <a:t>coincidieron</a:t>
            </a:r>
            <a:r>
              <a:rPr sz="1300" b="0" i="0" dirty="0">
                <a:solidFill>
                  <a:srgbClr val="5C6978"/>
                </a:solidFill>
                <a:latin typeface="Aptos"/>
              </a:rPr>
              <a:t> con la </a:t>
            </a:r>
            <a:r>
              <a:rPr sz="1300" b="0" i="0" dirty="0" err="1">
                <a:solidFill>
                  <a:srgbClr val="5C6978"/>
                </a:solidFill>
                <a:latin typeface="Aptos"/>
              </a:rPr>
              <a:t>propuesta</a:t>
            </a:r>
            <a:endParaRPr sz="1300" b="0" i="0" dirty="0">
              <a:solidFill>
                <a:srgbClr val="5C69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6537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4253F"/>
                </a:solidFill>
                <a:latin typeface="Aptos"/>
              </a:rPr>
              <a:t>Acuerdo entre participantes, pero en otra categoría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61688"/>
              </p:ext>
            </p:extLst>
          </p:nvPr>
        </p:nvGraphicFramePr>
        <p:xfrm>
          <a:off x="594360" y="1847088"/>
          <a:ext cx="6537958" cy="1316736"/>
        </p:xfrm>
        <a:graphic>
          <a:graphicData uri="http://schemas.openxmlformats.org/drawingml/2006/table">
            <a:tbl>
              <a:tblPr/>
              <a:tblGrid>
                <a:gridCol w="2210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Tarjeta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Propuesta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 err="1">
                          <a:solidFill>
                            <a:srgbClr val="FFFFFF"/>
                          </a:solidFill>
                          <a:latin typeface="Aptos"/>
                        </a:rPr>
                        <a:t>Participantes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GTI Conectividad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Nosotros</a:t>
                      </a:r>
                      <a:endParaRPr sz="1200" b="0" dirty="0">
                        <a:solidFill>
                          <a:srgbClr val="28303A"/>
                        </a:solidFill>
                        <a:latin typeface="Aptos"/>
                      </a:endParaRP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Herramientas y Recursos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C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Leyes y reglamentos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Ayuda y Contacto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Nosotros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C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Descargar app móvil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Ayuda y Contacto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Herramientas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 y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Recursos</a:t>
                      </a:r>
                      <a:endParaRPr sz="1200" b="0" dirty="0">
                        <a:solidFill>
                          <a:srgbClr val="28303A"/>
                        </a:solidFill>
                        <a:latin typeface="Aptos"/>
                      </a:endParaRP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C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3273552"/>
            <a:ext cx="6537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4253F"/>
                </a:solidFill>
                <a:latin typeface="Aptos"/>
              </a:rPr>
              <a:t>Sin acuerdo (cada participante eligió una categoría distinta)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02736"/>
            <a:ext cx="6537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02736"/>
            <a:ext cx="411480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28303A"/>
                </a:solidFill>
                <a:latin typeface="Aptos"/>
              </a:rPr>
              <a:t>Pagar facturación · Recargar prepago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602736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150" b="0" i="0">
                <a:solidFill>
                  <a:srgbClr val="B4531A"/>
                </a:solidFill>
                <a:latin typeface="Aptos"/>
              </a:rPr>
              <a:t>Mi Cuenta / Planes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23360"/>
            <a:ext cx="6537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411480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28303A"/>
                </a:solidFill>
                <a:latin typeface="Aptos"/>
              </a:rPr>
              <a:t>Cómo empezar en 3 pasos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023360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150" b="0" i="0">
                <a:solidFill>
                  <a:srgbClr val="B4531A"/>
                </a:solidFill>
                <a:latin typeface="Aptos"/>
              </a:rPr>
              <a:t>Nosotros / Planes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43984"/>
            <a:ext cx="6537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43984"/>
            <a:ext cx="411480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28303A"/>
                </a:solidFill>
                <a:latin typeface="Aptos"/>
              </a:rPr>
              <a:t>Club de Contadores · Clientes felices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443984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150" b="0" i="0">
                <a:solidFill>
                  <a:srgbClr val="B4531A"/>
                </a:solidFill>
                <a:latin typeface="Aptos"/>
              </a:rPr>
              <a:t>Ayuda y Contacto / Nosotros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64608"/>
            <a:ext cx="6537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864608"/>
            <a:ext cx="411480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28303A"/>
                </a:solidFill>
                <a:latin typeface="Aptos"/>
              </a:rPr>
              <a:t>Nuestro servicio · Programa L · Política de Datos · ¿Qué es la FE?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86460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150" b="0" i="0">
                <a:solidFill>
                  <a:srgbClr val="B4531A"/>
                </a:solidFill>
                <a:latin typeface="Aptos"/>
              </a:rPr>
              <a:t>Herramientas y Recursos / Nosotros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508760"/>
            <a:ext cx="356616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Picture 23" descr="i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142" y="1627632"/>
            <a:ext cx="3393156" cy="3246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06640" y="4919472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5C6978"/>
                </a:solidFill>
                <a:latin typeface="Aptos"/>
              </a:rPr>
              <a:t>Standardization grid (OptimalSort)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349240"/>
            <a:ext cx="10378440" cy="566928"/>
          </a:xfrm>
          <a:prstGeom prst="roundRect">
            <a:avLst>
              <a:gd name="adj" fmla="val 2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228600" bIns="18288" rtlCol="0" anchor="ctr"/>
          <a:lstStyle/>
          <a:p>
            <a:pPr algn="l"/>
            <a:r>
              <a:rPr sz="1300" b="1" i="0">
                <a:solidFill>
                  <a:srgbClr val="006B6B"/>
                </a:solidFill>
                <a:latin typeface="Aptos"/>
              </a:rPr>
              <a:t>«Nosotros» tuvo el acuerdo más bajo (61 %) y funcionó como comodín; los nombres de marca y términos técnicos (GTI Conectividad, Programa L, Club de Contadores, ATV) fueron los menos intuitivos.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349240"/>
            <a:ext cx="73152" cy="566928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19. Tree testing (Treejack): tareas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Optimal Workshop · 8 escenarios redactados sin repetir las etiquetas del árbol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378439" cy="4023360"/>
        </p:xfrm>
        <a:graphic>
          <a:graphicData uri="http://schemas.openxmlformats.org/drawingml/2006/table">
            <a:tbl>
              <a:tblPr/>
              <a:tblGrid>
                <a:gridCol w="422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8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6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Tarea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Respuesta correcta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Acaba de pagar el servicio y le llegó un código por correo. ¿Dónde lo usaría para empezar?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Mi Cuenta &gt; Activar cuenta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Tiene una sociedad anónima y quiere saber cuánto cuesta facturar.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Planes &gt; Persona Jurídica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Se le acabaron los documentos disponibles de su plan prepago. ¿Dónde agrega más?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Mi Cuenta &gt; Recargar prepago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Quiere confirmar qué exige Hacienda sobre los comprobantes.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Ayuda y Contacto &gt; Leyes y reglamentos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Su empresa usa un ERP y quiere que las facturas salgan directamente desde ahí.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Nosotros &gt; GTI Conectividad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Necesita una factura que emitió hace dos años, antes de que cambiara la plataforma.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Herramientas y Recursos &gt; Sistema anterior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Lleva la contabilidad de varios clientes y busca beneficios por recomendar el servicio.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Herramientas y Recursos &gt; Club de Contadores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Tiene un error al facturar y necesita ayuda inmediata.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6B6B"/>
                          </a:solidFill>
                          <a:latin typeface="Aptos"/>
                        </a:rPr>
                        <a:t>Ayuda y Contacto &gt; Chatbot / WhatsApp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20. Tree testing: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Optimal Workshop · Éxito frente a directness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58" y="1371600"/>
            <a:ext cx="10378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4253F"/>
                </a:solidFill>
                <a:latin typeface="Aptos"/>
              </a:rPr>
              <a:t>Tareas </a:t>
            </a:r>
            <a:r>
              <a:rPr sz="1300" b="1" i="0" dirty="0" err="1">
                <a:solidFill>
                  <a:srgbClr val="14253F"/>
                </a:solidFill>
                <a:latin typeface="Aptos"/>
              </a:rPr>
              <a:t>donde</a:t>
            </a:r>
            <a:r>
              <a:rPr sz="1300" b="1" i="0" dirty="0">
                <a:solidFill>
                  <a:srgbClr val="14253F"/>
                </a:solidFill>
                <a:latin typeface="Aptos"/>
              </a:rPr>
              <a:t> al </a:t>
            </a:r>
            <a:r>
              <a:rPr sz="1300" b="1" i="0" dirty="0" err="1">
                <a:solidFill>
                  <a:srgbClr val="14253F"/>
                </a:solidFill>
                <a:latin typeface="Aptos"/>
              </a:rPr>
              <a:t>menos</a:t>
            </a:r>
            <a:r>
              <a:rPr sz="1300" b="1" i="0" dirty="0">
                <a:solidFill>
                  <a:srgbClr val="14253F"/>
                </a:solidFill>
                <a:latin typeface="Aptos"/>
              </a:rPr>
              <a:t> un </a:t>
            </a:r>
            <a:r>
              <a:rPr sz="1300" b="1" i="0" dirty="0" err="1">
                <a:solidFill>
                  <a:srgbClr val="14253F"/>
                </a:solidFill>
                <a:latin typeface="Aptos"/>
              </a:rPr>
              <a:t>participante</a:t>
            </a:r>
            <a:r>
              <a:rPr sz="1300" b="1" i="0" dirty="0">
                <a:solidFill>
                  <a:srgbClr val="14253F"/>
                </a:solidFill>
                <a:latin typeface="Aptos"/>
              </a:rPr>
              <a:t> no </a:t>
            </a:r>
            <a:r>
              <a:rPr sz="1300" b="1" i="0" dirty="0" err="1">
                <a:solidFill>
                  <a:srgbClr val="14253F"/>
                </a:solidFill>
                <a:latin typeface="Aptos"/>
              </a:rPr>
              <a:t>fue</a:t>
            </a:r>
            <a:r>
              <a:rPr sz="1300" b="1" i="0" dirty="0">
                <a:solidFill>
                  <a:srgbClr val="14253F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14253F"/>
                </a:solidFill>
                <a:latin typeface="Aptos"/>
              </a:rPr>
              <a:t>directo</a:t>
            </a:r>
            <a:r>
              <a:rPr sz="1300" b="1" i="0" dirty="0">
                <a:solidFill>
                  <a:srgbClr val="14253F"/>
                </a:solidFill>
                <a:latin typeface="Aptos"/>
              </a:rPr>
              <a:t> a la </a:t>
            </a:r>
            <a:r>
              <a:rPr sz="1300" b="1" i="0" dirty="0" err="1">
                <a:solidFill>
                  <a:srgbClr val="14253F"/>
                </a:solidFill>
                <a:latin typeface="Aptos"/>
              </a:rPr>
              <a:t>opción</a:t>
            </a:r>
            <a:r>
              <a:rPr sz="1300" b="1" i="0" dirty="0">
                <a:solidFill>
                  <a:srgbClr val="14253F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14253F"/>
                </a:solidFill>
                <a:latin typeface="Aptos"/>
              </a:rPr>
              <a:t>correcta</a:t>
            </a:r>
            <a:endParaRPr sz="1300" b="1" i="0" dirty="0">
              <a:solidFill>
                <a:srgbClr val="14253F"/>
              </a:solidFill>
              <a:latin typeface="Aptos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22061"/>
              </p:ext>
            </p:extLst>
          </p:nvPr>
        </p:nvGraphicFramePr>
        <p:xfrm>
          <a:off x="594360" y="1884641"/>
          <a:ext cx="10378438" cy="3519463"/>
        </p:xfrm>
        <a:graphic>
          <a:graphicData uri="http://schemas.openxmlformats.org/drawingml/2006/table">
            <a:tbl>
              <a:tblPr/>
              <a:tblGrid>
                <a:gridCol w="21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91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Tarea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Éxito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Directness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Ruta del participante que se desvió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84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3. Recargar prepago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8303A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303A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C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Inicio &gt; Planes ← Inicio &gt; Mi Cuenta &gt; Recargar prepago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84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4. Leyes y reglamentos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303A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303A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C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03A"/>
                          </a:solidFill>
                          <a:latin typeface="Aptos"/>
                        </a:rPr>
                        <a:t>Recorrió Ayuda y Contacto, Herramientas y Recursos y Nosotros antes de volver a Ayuda y Contacto &gt; Leyes y reglamentos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84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53F"/>
                          </a:solidFill>
                          <a:latin typeface="Aptos"/>
                        </a:rPr>
                        <a:t>5. GTI Conectividad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303A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303A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C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Éxito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indirecto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: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Herramientas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 y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Recursos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 ←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Nosotros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 &gt; GTI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Conectividad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.  Fallo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directo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: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Herramientas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 y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Recursos</a:t>
                      </a:r>
                      <a:r>
                        <a:rPr sz="1200" b="0" dirty="0">
                          <a:solidFill>
                            <a:srgbClr val="28303A"/>
                          </a:solidFill>
                          <a:latin typeface="Aptos"/>
                        </a:rPr>
                        <a:t> &gt; Club de </a:t>
                      </a:r>
                      <a:r>
                        <a:rPr sz="1200" b="0" dirty="0" err="1">
                          <a:solidFill>
                            <a:srgbClr val="28303A"/>
                          </a:solidFill>
                          <a:latin typeface="Aptos"/>
                        </a:rPr>
                        <a:t>Contadores</a:t>
                      </a:r>
                      <a:endParaRPr sz="1200" b="0" dirty="0">
                        <a:solidFill>
                          <a:srgbClr val="28303A"/>
                        </a:solidFill>
                        <a:latin typeface="Aptos"/>
                      </a:endParaRP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94360" y="5486400"/>
            <a:ext cx="10378440" cy="384048"/>
          </a:xfrm>
          <a:prstGeom prst="roundRect">
            <a:avLst>
              <a:gd name="adj" fmla="val 20000"/>
            </a:avLst>
          </a:prstGeom>
          <a:solidFill>
            <a:srgbClr val="E0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228600" bIns="18288" rtlCol="0" anchor="ctr"/>
          <a:lstStyle/>
          <a:p>
            <a:pPr algn="l"/>
            <a:r>
              <a:rPr sz="1300" b="1" i="0">
                <a:solidFill>
                  <a:srgbClr val="006B6B"/>
                </a:solidFill>
                <a:latin typeface="Aptos"/>
              </a:rPr>
              <a:t>El éxito final no siempre significa navegación clara: la directness revela dudas en la estructura.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486400"/>
            <a:ext cx="73152" cy="384048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21. Análisis y ajustes a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Ambos estudios coinciden en los mismos puntos débiles; los ajustes se incorporaron al sitemap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378439" cy="4315968"/>
        </p:xfrm>
        <a:graphic>
          <a:graphicData uri="http://schemas.openxmlformats.org/drawingml/2006/table">
            <a:tbl>
              <a:tblPr/>
              <a:tblGrid>
                <a:gridCol w="514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5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Hallazgo (card sorting + tree testing)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Ajuste propuesto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GTI Conectividad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se busca en Herramientas y Recursos; el nombre de marca no anticipa la integración con ERP.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Moverla a Herramientas y Recursos con etiqueta descriptiva: «Integración con ERP (GTI Conectividad)».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Leyes y reglamentos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no se asocia de forma natural con «Ayuda».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Mantenerla en Ayuda y Contacto y renombrar la categoría «Ayuda, Normativa y Contacto», o enlazarla desde Nosotros y Planes.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Pagar y recargar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se buscan en Planes: el usuario relaciona la recarga con su plan.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Agregar en cada página de Planes un acceso contextual a Recargar prepago y Pagar facturación.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Descargar app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se ubica en Herramientas y Recursos.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Moverla a Herramientas y Recursos (se mantiene también en la barra superior).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Términos poco conocidos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(Programa L, Club de Contadores, ATV) generan dispersión: es un problema de etiquetado.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Acompañarlos con una descripción breve en el menú o en la página.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E9CA-08A8-0844-81BC-5272C5C5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5F1FA-F3A5-02A7-1F88-930279FDE0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F50DC5-A1DB-1C65-7B1A-C49FFACE4499}"/>
              </a:ext>
            </a:extLst>
          </p:cNvPr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9423D-494D-71BF-9918-78B98045155F}"/>
              </a:ext>
            </a:extLst>
          </p:cNvPr>
          <p:cNvSpPr txBox="1"/>
          <p:nvPr/>
        </p:nvSpPr>
        <p:spPr>
          <a:xfrm>
            <a:off x="594360" y="384048"/>
            <a:ext cx="1097280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2700" b="1" dirty="0">
                <a:solidFill>
                  <a:srgbClr val="14253F"/>
                </a:solidFill>
                <a:latin typeface="Aptos"/>
              </a:rPr>
              <a:t>22. Sitemap v2</a:t>
            </a:r>
            <a:endParaRPr sz="2700" b="1" i="0" dirty="0">
              <a:solidFill>
                <a:srgbClr val="14253F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75B5B-3704-B22C-F98A-6ABE7DD2B692}"/>
              </a:ext>
            </a:extLst>
          </p:cNvPr>
          <p:cNvSpPr txBox="1"/>
          <p:nvPr/>
        </p:nvSpPr>
        <p:spPr>
          <a:xfrm>
            <a:off x="621792" y="1005840"/>
            <a:ext cx="1097280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300" b="0" i="0" dirty="0" err="1">
                <a:solidFill>
                  <a:srgbClr val="5C6978"/>
                </a:solidFill>
                <a:latin typeface="Aptos"/>
              </a:rPr>
              <a:t>Aplica los ajustes de Optimal sobre la estructura evaluada. Solo se trabajó en FlowMapp y Octopus.do</a:t>
            </a:r>
            <a:endParaRPr sz="1300" b="0" i="0" dirty="0">
              <a:solidFill>
                <a:srgbClr val="5C6978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461AB-E434-8A26-AD4B-5ADFB344FDAA}"/>
              </a:ext>
            </a:extLst>
          </p:cNvPr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312AF-0C29-41F4-ED17-3860926C0DC3}"/>
              </a:ext>
            </a:extLst>
          </p:cNvPr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9A7CEA-CB85-E8A7-7493-086428D71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47" y="1550784"/>
            <a:ext cx="7595971" cy="470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96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E9CA-08A8-0844-81BC-5272C5C5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5F1FA-F3A5-02A7-1F88-930279FDE0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F50DC5-A1DB-1C65-7B1A-C49FFACE4499}"/>
              </a:ext>
            </a:extLst>
          </p:cNvPr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9423D-494D-71BF-9918-78B98045155F}"/>
              </a:ext>
            </a:extLst>
          </p:cNvPr>
          <p:cNvSpPr txBox="1"/>
          <p:nvPr/>
        </p:nvSpPr>
        <p:spPr>
          <a:xfrm>
            <a:off x="594360" y="384048"/>
            <a:ext cx="1097280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2700" b="1" dirty="0">
                <a:solidFill>
                  <a:srgbClr val="14253F"/>
                </a:solidFill>
                <a:latin typeface="Aptos"/>
              </a:rPr>
              <a:t>23. Sitemap final</a:t>
            </a:r>
            <a:endParaRPr sz="2700" b="1" i="0" dirty="0">
              <a:solidFill>
                <a:srgbClr val="14253F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75B5B-3704-B22C-F98A-6ABE7DD2B692}"/>
              </a:ext>
            </a:extLst>
          </p:cNvPr>
          <p:cNvSpPr txBox="1"/>
          <p:nvPr/>
        </p:nvSpPr>
        <p:spPr>
          <a:xfrm>
            <a:off x="621792" y="1005840"/>
            <a:ext cx="1097280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300" b="0" i="0" dirty="0" err="1">
                <a:solidFill>
                  <a:srgbClr val="5C6978"/>
                </a:solidFill>
                <a:latin typeface="Aptos"/>
              </a:rPr>
              <a:t>Parte de la v2 y es el sitemap del repositorio: la base de todo lo que sigue</a:t>
            </a:r>
            <a:endParaRPr sz="1300" b="0" i="0" dirty="0">
              <a:solidFill>
                <a:srgbClr val="5C6978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461AB-E434-8A26-AD4B-5ADFB344FDAA}"/>
              </a:ext>
            </a:extLst>
          </p:cNvPr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312AF-0C29-41F4-ED17-3860926C0DC3}"/>
              </a:ext>
            </a:extLst>
          </p:cNvPr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6949440" cy="3374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066168"/>
            <a:ext cx="6766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5C6978"/>
                </a:solidFill>
                <a:latin typeface="Aptos"/>
              </a:rPr>
              <a:t>Sitemap final: Inicio → 5 categorías, accesos del encabezado y pie de página.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00200"/>
            <a:ext cx="3200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874520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182880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Se elimina Mi Cuenta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121408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Sin acuerdo en el card sorting: pagar y recargar pasan al encabezado.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52928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2807208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Se crea Comenzar a facturar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099816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Pasos, requisitos y activación (problemática y Customer Journey).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831336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3785616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GTI Conectividad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4078224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Pasa a Herramientas y Recursos, donde la ubicaron los participantes.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4809744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8" y="4764024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Se usa en todo el resto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5056632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Prototipo, wireframes, búsqueda, metadatos, Strapi y Customer Journey.</a:t>
            </a:r>
          </a:p>
        </p:txBody>
      </p:sp>
      <p:pic>
        <p:nvPicPr>
          <p:cNvPr id="24" name="Sitemap final" descr="SiteMap_correg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6766560" cy="31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96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24. ¿Qué sitemap usó cada herramienta?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Solo FlowMapp y Octopus.do quedaron con la v2; todo lo demás usa el sitemap final del repositorio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378439" cy="4315968"/>
        </p:xfrm>
        <a:graphic>
          <a:graphicData uri="http://schemas.openxmlformats.org/drawingml/2006/table">
            <a:tbl>
              <a:tblPr/>
              <a:tblGrid>
                <a:gridCol w="514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5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Sitemap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Herramientas que lo usaron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v1 · Propuesta inicial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(Avance 1, con «Mi Cuenta»)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Optimal Workshop: card sorting y tree testing evaluaron esta estructura.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v2 · Ajustes de Optimal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(sitemap de transición)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FlowMapp y Octopus.do. Son las dos únicas herramientas que quedaron con la v2.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53F"/>
                          </a:solidFill>
                          <a:latin typeface="Aptos"/>
                        </a:rPr>
                        <a:t>Final · Repositorio</a:t>
                      </a:r>
                      <a:r>
                        <a:rPr sz="1250" b="0">
                          <a:solidFill>
                            <a:srgbClr val="28303A"/>
                          </a:solidFill>
                          <a:latin typeface="Aptos"/>
                        </a:rPr>
                        <a:t> (js/sitemap-data.js)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4F4F"/>
                          </a:solidFill>
                          <a:latin typeface="Aptos"/>
                        </a:rPr>
                        <a:t>Todo lo demás: prototipo HTML publicado, wireframes en Figma, flujo en FigJam, evaluación heurística, Algolia, Strapi, Customer Journey y el documento final.</a:t>
                      </a:r>
                    </a:p>
                  </a:txBody>
                  <a:tcPr marT="36576" marB="36576" anchor="ctr">
                    <a:lnL w="6350">
                      <a:solidFill>
                        <a:srgbClr val="DCE4EC"/>
                      </a:solidFill>
                    </a:lnL>
                    <a:lnR w="6350">
                      <a:solidFill>
                        <a:srgbClr val="DCE4EC"/>
                      </a:solidFill>
                    </a:lnR>
                    <a:lnT w="6350">
                      <a:solidFill>
                        <a:srgbClr val="DCE4EC"/>
                      </a:solidFill>
                    </a:lnT>
                    <a:lnB w="6350">
                      <a:solidFill>
                        <a:srgbClr val="DCE4EC"/>
                      </a:solidFill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14253F"/>
                </a:solidFill>
                <a:latin typeface="Aptos"/>
              </a:rPr>
              <a:t>25. Prototipo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5C6978"/>
                </a:solidFill>
                <a:latin typeface="Aptos"/>
              </a:rPr>
              <a:t>El sitemap final implementado y publicado en aguilarato.github.io/arquitectura-gti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ptos"/>
              </a:rP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1F5B96"/>
                </a:solidFill>
                <a:latin typeface="Aptos"/>
              </a:rPr>
              <a:t>Expositor: Derrek Ureña Solis |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6949440" cy="3374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066168"/>
            <a:ext cx="6766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5C6978"/>
                </a:solidFill>
                <a:latin typeface="Aptos"/>
              </a:rPr>
              <a:t>Inicio del prototipo publicado: 5 categorías, accesos del encabezado y buscador.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00200"/>
            <a:ext cx="3200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874520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182880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Fuente única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121408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El menú, las migas de pan y el footer se generan desde js/sitemap-data.js.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52928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2807208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Consistencia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099816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La misma etiqueta aparece igual en todos los sistemas de navegación.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831336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3785616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Acciones en Inicio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4078224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Consultar planes, Cómo comenzar y los 3 pasos: plan → activar → registro.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4809744"/>
            <a:ext cx="64008" cy="731520"/>
          </a:xfrm>
          <a:prstGeom prst="rect">
            <a:avLst/>
          </a:prstGeom>
          <a:solidFill>
            <a:srgbClr val="009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8" y="4764024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50" b="1" i="0">
                <a:solidFill>
                  <a:srgbClr val="14253F"/>
                </a:solidFill>
                <a:latin typeface="Aptos"/>
              </a:rPr>
              <a:t>Accesos persistentes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5056632"/>
            <a:ext cx="2651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8303A"/>
                </a:solidFill>
                <a:latin typeface="Aptos"/>
              </a:rPr>
              <a:t>Iniciar sesión y Pagos y recargas en el encabezado, buscador y botón «¿Necesita ayuda?».</a:t>
            </a:r>
          </a:p>
        </p:txBody>
      </p:sp>
      <p:pic>
        <p:nvPicPr>
          <p:cNvPr id="24" name="Prototipo actual" descr="pr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6766560" cy="31916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PARTE III · PROTOTIPO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058400" cy="6400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800" b="0">
                <a:solidFill>
                  <a:srgbClr val="9BDCDC"/>
                </a:solidFill>
                <a:latin typeface="Aptos"/>
              </a:defRPr>
            </a:pPr>
            <a:r>
              <a:t>Usabilidad, búsqueda, metadatos, Customer Journey 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26. Wireframes preliminares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De la estructura a la interfaz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wireframes </a:t>
            </a:r>
            <a:r>
              <a:rPr dirty="0" err="1"/>
              <a:t>trasladan</a:t>
            </a:r>
            <a:r>
              <a:rPr dirty="0"/>
              <a:t> la </a:t>
            </a:r>
            <a:r>
              <a:rPr dirty="0" err="1"/>
              <a:t>arquitectura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interfaz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diseñaron</a:t>
            </a:r>
            <a:r>
              <a:rPr dirty="0"/>
              <a:t> </a:t>
            </a:r>
            <a:r>
              <a:rPr dirty="0" err="1"/>
              <a:t>pantallas</a:t>
            </a:r>
            <a:r>
              <a:rPr dirty="0"/>
              <a:t> para </a:t>
            </a:r>
            <a:r>
              <a:rPr dirty="0" err="1"/>
              <a:t>Inicio</a:t>
            </a:r>
            <a:r>
              <a:rPr dirty="0"/>
              <a:t>, Ayuda y Contacto, </a:t>
            </a:r>
            <a:r>
              <a:rPr dirty="0" err="1"/>
              <a:t>Comenzar</a:t>
            </a:r>
            <a:r>
              <a:rPr dirty="0"/>
              <a:t> a </a:t>
            </a:r>
            <a:r>
              <a:rPr dirty="0" err="1"/>
              <a:t>facturar</a:t>
            </a:r>
            <a:r>
              <a:rPr dirty="0"/>
              <a:t> y Planes.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priorizan</a:t>
            </a:r>
            <a:r>
              <a:rPr dirty="0"/>
              <a:t> las </a:t>
            </a:r>
            <a:r>
              <a:rPr dirty="0" err="1"/>
              <a:t>acciones</a:t>
            </a:r>
            <a:r>
              <a:rPr dirty="0"/>
              <a:t> </a:t>
            </a:r>
            <a:r>
              <a:rPr dirty="0" err="1"/>
              <a:t>importantes</a:t>
            </a:r>
            <a:r>
              <a:rPr dirty="0"/>
              <a:t> y se </a:t>
            </a:r>
            <a:r>
              <a:rPr dirty="0" err="1"/>
              <a:t>agrupan</a:t>
            </a:r>
            <a:r>
              <a:rPr dirty="0"/>
              <a:t> </a:t>
            </a:r>
            <a:r>
              <a:rPr dirty="0" err="1"/>
              <a:t>contenidos</a:t>
            </a:r>
            <a:r>
              <a:rPr dirty="0"/>
              <a:t> </a:t>
            </a:r>
            <a:r>
              <a:rPr dirty="0" err="1"/>
              <a:t>relacionados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prototipo navegable se desarrolló en Figma y el flujo de Comenzar a facturar en FigJam, ambos con el sitemap final.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Son </a:t>
            </a:r>
            <a:r>
              <a:rPr dirty="0" err="1"/>
              <a:t>representaciones</a:t>
            </a:r>
            <a:r>
              <a:rPr dirty="0"/>
              <a:t> </a:t>
            </a:r>
            <a:r>
              <a:rPr dirty="0" err="1"/>
              <a:t>preliminares</a:t>
            </a:r>
            <a:r>
              <a:rPr dirty="0"/>
              <a:t> de </a:t>
            </a:r>
            <a:r>
              <a:rPr dirty="0" err="1"/>
              <a:t>distribución</a:t>
            </a:r>
            <a:r>
              <a:rPr dirty="0"/>
              <a:t> y </a:t>
            </a:r>
            <a:r>
              <a:rPr dirty="0" err="1"/>
              <a:t>navegación</a:t>
            </a:r>
            <a:r>
              <a:rPr dirty="0"/>
              <a:t>, no </a:t>
            </a:r>
            <a:r>
              <a:rPr dirty="0" err="1"/>
              <a:t>necesariamente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interfaz</a:t>
            </a:r>
            <a:r>
              <a:rPr dirty="0"/>
              <a:t> final de </a:t>
            </a:r>
            <a:r>
              <a:rPr dirty="0" err="1"/>
              <a:t>producción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27. Evaluación de usabilidad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Revisión de la experiencia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La </a:t>
            </a:r>
            <a:r>
              <a:rPr dirty="0" err="1"/>
              <a:t>evaluación</a:t>
            </a:r>
            <a:r>
              <a:rPr dirty="0"/>
              <a:t> se </a:t>
            </a:r>
            <a:r>
              <a:rPr dirty="0" err="1"/>
              <a:t>basó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diez</a:t>
            </a:r>
            <a:r>
              <a:rPr dirty="0"/>
              <a:t> </a:t>
            </a:r>
            <a:r>
              <a:rPr dirty="0" err="1"/>
              <a:t>heurísticas</a:t>
            </a:r>
            <a:r>
              <a:rPr dirty="0"/>
              <a:t> de </a:t>
            </a:r>
            <a:r>
              <a:rPr dirty="0" err="1"/>
              <a:t>usabilidad</a:t>
            </a:r>
            <a:r>
              <a:rPr dirty="0"/>
              <a:t> de Jakob Nielsen.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revisaron</a:t>
            </a:r>
            <a:r>
              <a:rPr dirty="0"/>
              <a:t> el </a:t>
            </a:r>
            <a:r>
              <a:rPr dirty="0" err="1"/>
              <a:t>prototipo</a:t>
            </a:r>
            <a:r>
              <a:rPr dirty="0"/>
              <a:t> HTML </a:t>
            </a:r>
            <a:r>
              <a:rPr dirty="0" err="1"/>
              <a:t>navegable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wireframes </a:t>
            </a:r>
            <a:r>
              <a:rPr dirty="0" err="1"/>
              <a:t>corregidos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Figma.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visibilidad</a:t>
            </a:r>
            <a:r>
              <a:rPr dirty="0"/>
              <a:t>, </a:t>
            </a:r>
            <a:r>
              <a:rPr dirty="0" err="1"/>
              <a:t>consistencia</a:t>
            </a:r>
            <a:r>
              <a:rPr dirty="0"/>
              <a:t>, </a:t>
            </a:r>
            <a:r>
              <a:rPr dirty="0" err="1"/>
              <a:t>prevención</a:t>
            </a:r>
            <a:r>
              <a:rPr dirty="0"/>
              <a:t> de </a:t>
            </a:r>
            <a:r>
              <a:rPr dirty="0" err="1"/>
              <a:t>errores</a:t>
            </a:r>
            <a:r>
              <a:rPr dirty="0"/>
              <a:t> y </a:t>
            </a:r>
            <a:r>
              <a:rPr dirty="0" err="1"/>
              <a:t>recuperación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trata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heurística</a:t>
            </a:r>
            <a:r>
              <a:rPr dirty="0"/>
              <a:t> del </a:t>
            </a:r>
            <a:r>
              <a:rPr dirty="0" err="1"/>
              <a:t>equipo</a:t>
            </a:r>
            <a:r>
              <a:rPr dirty="0"/>
              <a:t>, no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amplia</a:t>
            </a:r>
            <a:r>
              <a:rPr dirty="0"/>
              <a:t> con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representativos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priorizadas</a:t>
            </a:r>
            <a:r>
              <a:rPr dirty="0"/>
              <a:t> </a:t>
            </a:r>
            <a:r>
              <a:rPr dirty="0" err="1"/>
              <a:t>buscan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importantes</a:t>
            </a:r>
            <a:r>
              <a:rPr dirty="0"/>
              <a:t> </a:t>
            </a:r>
            <a:r>
              <a:rPr dirty="0" err="1"/>
              <a:t>sean</a:t>
            </a:r>
            <a:r>
              <a:rPr dirty="0"/>
              <a:t> </a:t>
            </a:r>
            <a:r>
              <a:rPr dirty="0" err="1"/>
              <a:t>visibles</a:t>
            </a:r>
            <a:r>
              <a:rPr dirty="0"/>
              <a:t> y </a:t>
            </a:r>
            <a:r>
              <a:rPr dirty="0" err="1"/>
              <a:t>comprensibles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28. Mejoras y limitaciones de usabilidad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De hallazgos a acciones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Una </a:t>
            </a: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es </a:t>
            </a:r>
            <a:r>
              <a:rPr dirty="0" err="1"/>
              <a:t>aclarar</a:t>
            </a:r>
            <a:r>
              <a:rPr dirty="0"/>
              <a:t> el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recuperación</a:t>
            </a:r>
            <a:r>
              <a:rPr dirty="0"/>
              <a:t> de </a:t>
            </a:r>
            <a:r>
              <a:rPr dirty="0" err="1"/>
              <a:t>contraseña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accesos</a:t>
            </a:r>
            <a:r>
              <a:rPr dirty="0"/>
              <a:t> de </a:t>
            </a:r>
            <a:r>
              <a:rPr dirty="0" err="1"/>
              <a:t>ayuda</a:t>
            </a:r>
            <a:r>
              <a:rPr dirty="0"/>
              <a:t>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estar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críticas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Botones</a:t>
            </a:r>
            <a:r>
              <a:rPr dirty="0"/>
              <a:t> y </a:t>
            </a:r>
            <a:r>
              <a:rPr dirty="0" err="1"/>
              <a:t>textos</a:t>
            </a:r>
            <a:r>
              <a:rPr dirty="0"/>
              <a:t>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mantener</a:t>
            </a:r>
            <a:r>
              <a:rPr dirty="0"/>
              <a:t> </a:t>
            </a:r>
            <a:r>
              <a:rPr dirty="0" err="1"/>
              <a:t>contraste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y </a:t>
            </a:r>
            <a:r>
              <a:rPr dirty="0" err="1"/>
              <a:t>legibilidad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activación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explicar</a:t>
            </a:r>
            <a:r>
              <a:rPr dirty="0"/>
              <a:t> de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y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no </a:t>
            </a:r>
            <a:r>
              <a:rPr dirty="0" err="1"/>
              <a:t>llega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limitaciones: es una revisión del equipo sin usuarios y el prototipo es preliminar.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Se recomienda probar tareas con más participantes y analizar el uso real del prototipo publicado.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29. Estrategia de búsqueda y recuperación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Búsqueda como camino alternativo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buscador</a:t>
            </a:r>
            <a:r>
              <a:rPr dirty="0"/>
              <a:t> </a:t>
            </a:r>
            <a:r>
              <a:rPr dirty="0" err="1"/>
              <a:t>complementa</a:t>
            </a:r>
            <a:r>
              <a:rPr dirty="0"/>
              <a:t> la </a:t>
            </a:r>
            <a:r>
              <a:rPr dirty="0" err="1"/>
              <a:t>navegación</a:t>
            </a:r>
            <a:r>
              <a:rPr dirty="0"/>
              <a:t>; no la </a:t>
            </a:r>
            <a:r>
              <a:rPr dirty="0" err="1"/>
              <a:t>sustituye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Reduce la </a:t>
            </a:r>
            <a:r>
              <a:rPr dirty="0" err="1"/>
              <a:t>necesidad</a:t>
            </a:r>
            <a:r>
              <a:rPr dirty="0"/>
              <a:t> de </a:t>
            </a:r>
            <a:r>
              <a:rPr dirty="0" err="1"/>
              <a:t>recorrer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 </a:t>
            </a:r>
            <a:r>
              <a:rPr dirty="0" err="1"/>
              <a:t>categorías</a:t>
            </a:r>
            <a:r>
              <a:rPr dirty="0"/>
              <a:t> para </a:t>
            </a:r>
            <a:r>
              <a:rPr dirty="0" err="1"/>
              <a:t>localizar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Debe </a:t>
            </a:r>
            <a:r>
              <a:rPr dirty="0" err="1"/>
              <a:t>aceptar</a:t>
            </a:r>
            <a:r>
              <a:rPr dirty="0"/>
              <a:t> palabras clave, </a:t>
            </a:r>
            <a:r>
              <a:rPr dirty="0" err="1"/>
              <a:t>ordenar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relevancia</a:t>
            </a:r>
            <a:r>
              <a:rPr dirty="0"/>
              <a:t> y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filtros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incluye</a:t>
            </a:r>
            <a:r>
              <a:rPr dirty="0"/>
              <a:t> planes, </a:t>
            </a:r>
            <a:r>
              <a:rPr dirty="0" err="1"/>
              <a:t>activación</a:t>
            </a:r>
            <a:r>
              <a:rPr dirty="0"/>
              <a:t>, </a:t>
            </a:r>
            <a:r>
              <a:rPr dirty="0" err="1"/>
              <a:t>herramientas</a:t>
            </a:r>
            <a:r>
              <a:rPr dirty="0"/>
              <a:t>,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, </a:t>
            </a:r>
            <a:r>
              <a:rPr dirty="0" err="1"/>
              <a:t>normativa</a:t>
            </a:r>
            <a:r>
              <a:rPr dirty="0"/>
              <a:t>, </a:t>
            </a:r>
            <a:r>
              <a:rPr dirty="0" err="1"/>
              <a:t>soporte</a:t>
            </a:r>
            <a:r>
              <a:rPr dirty="0"/>
              <a:t> y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públicos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indexar</a:t>
            </a:r>
            <a:r>
              <a:rPr dirty="0"/>
              <a:t> </a:t>
            </a:r>
            <a:r>
              <a:rPr dirty="0" err="1"/>
              <a:t>credenciales</a:t>
            </a:r>
            <a:r>
              <a:rPr dirty="0"/>
              <a:t>, facturas </a:t>
            </a:r>
            <a:r>
              <a:rPr dirty="0" err="1"/>
              <a:t>personales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privada</a:t>
            </a:r>
            <a:r>
              <a:rPr dirty="0"/>
              <a:t> de </a:t>
            </a:r>
            <a:r>
              <a:rPr dirty="0" err="1"/>
              <a:t>clientes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ofrecer</a:t>
            </a:r>
            <a:r>
              <a:rPr dirty="0"/>
              <a:t> </a:t>
            </a:r>
            <a:r>
              <a:rPr dirty="0" err="1"/>
              <a:t>alternativas</a:t>
            </a:r>
            <a:r>
              <a:rPr dirty="0"/>
              <a:t> </a:t>
            </a:r>
            <a:r>
              <a:rPr dirty="0" err="1"/>
              <a:t>útiles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consulta no produce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30. Algolia: implementación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Índice real construido sobre el sitemap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Se implementó un índice real (gti_contenidos) con 28 registros generados desde el sitemap final.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El buscador del prototipo consulta ese índice; si Algolia no responde, usa un buscador local con las mismas reglas.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resultados</a:t>
            </a:r>
            <a:r>
              <a:rPr dirty="0"/>
              <a:t> se </a:t>
            </a:r>
            <a:r>
              <a:rPr dirty="0" err="1"/>
              <a:t>clasifican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relevancia</a:t>
            </a:r>
            <a:r>
              <a:rPr dirty="0"/>
              <a:t> y se </a:t>
            </a:r>
            <a:r>
              <a:rPr dirty="0" err="1"/>
              <a:t>presentan</a:t>
            </a:r>
            <a:r>
              <a:rPr dirty="0"/>
              <a:t> con </a:t>
            </a:r>
            <a:r>
              <a:rPr dirty="0" err="1"/>
              <a:t>títulos</a:t>
            </a:r>
            <a:r>
              <a:rPr dirty="0"/>
              <a:t>, </a:t>
            </a:r>
            <a:r>
              <a:rPr dirty="0" err="1"/>
              <a:t>descripciones</a:t>
            </a:r>
            <a:r>
              <a:rPr dirty="0"/>
              <a:t> y enlaces.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metadatos</a:t>
            </a:r>
            <a:r>
              <a:rPr dirty="0"/>
              <a:t>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filtrar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categoría</a:t>
            </a:r>
            <a:r>
              <a:rPr dirty="0"/>
              <a:t>,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contenido</a:t>
            </a:r>
            <a:r>
              <a:rPr dirty="0"/>
              <a:t> y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sinónimos</a:t>
            </a:r>
            <a:r>
              <a:rPr dirty="0"/>
              <a:t> </a:t>
            </a:r>
            <a:r>
              <a:rPr dirty="0" err="1"/>
              <a:t>conectan</a:t>
            </a:r>
            <a:r>
              <a:rPr dirty="0"/>
              <a:t> el </a:t>
            </a:r>
            <a:r>
              <a:rPr dirty="0" err="1"/>
              <a:t>lenguaje</a:t>
            </a:r>
            <a:r>
              <a:rPr dirty="0"/>
              <a:t> de las personas con las </a:t>
            </a:r>
            <a:r>
              <a:rPr dirty="0" err="1"/>
              <a:t>etiquetas</a:t>
            </a:r>
            <a:r>
              <a:rPr dirty="0"/>
              <a:t> </a:t>
            </a:r>
            <a:r>
              <a:rPr dirty="0" err="1"/>
              <a:t>oficiales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Resultado: 13 de 13 consultas de prueba con el contenido esperado en primera posición; una regla resuelve «necesito ayuda».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31. Modelo de metadatos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Datos que describen cada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Identificador</a:t>
            </a:r>
            <a:r>
              <a:rPr dirty="0"/>
              <a:t> </a:t>
            </a:r>
            <a:r>
              <a:rPr dirty="0" err="1"/>
              <a:t>único</a:t>
            </a:r>
            <a:r>
              <a:rPr dirty="0"/>
              <a:t>: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, </a:t>
            </a:r>
            <a:r>
              <a:rPr dirty="0" err="1"/>
              <a:t>códigos</a:t>
            </a:r>
            <a:r>
              <a:rPr dirty="0"/>
              <a:t> GTI-000 a GTI-028.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Título</a:t>
            </a:r>
            <a:r>
              <a:rPr dirty="0"/>
              <a:t> y </a:t>
            </a:r>
            <a:r>
              <a:rPr dirty="0" err="1"/>
              <a:t>descripción</a:t>
            </a:r>
            <a:r>
              <a:rPr dirty="0"/>
              <a:t>: </a:t>
            </a:r>
            <a:r>
              <a:rPr dirty="0" err="1"/>
              <a:t>resumen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Categoría</a:t>
            </a:r>
            <a:r>
              <a:rPr dirty="0"/>
              <a:t> y </a:t>
            </a:r>
            <a:r>
              <a:rPr dirty="0" err="1"/>
              <a:t>subcategoría</a:t>
            </a:r>
            <a:r>
              <a:rPr dirty="0"/>
              <a:t>: </a:t>
            </a:r>
            <a:r>
              <a:rPr dirty="0" err="1"/>
              <a:t>ubicación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la </a:t>
            </a:r>
            <a:r>
              <a:rPr dirty="0" err="1"/>
              <a:t>arquitectura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Palabras clave: </a:t>
            </a:r>
            <a:r>
              <a:rPr dirty="0" err="1"/>
              <a:t>términos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ayudan</a:t>
            </a:r>
            <a:r>
              <a:rPr dirty="0"/>
              <a:t> a </a:t>
            </a:r>
            <a:r>
              <a:rPr dirty="0" err="1"/>
              <a:t>recuperar</a:t>
            </a:r>
            <a:r>
              <a:rPr dirty="0"/>
              <a:t> el </a:t>
            </a:r>
            <a:r>
              <a:rPr dirty="0" err="1"/>
              <a:t>contenido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Público </a:t>
            </a: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nuevos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existentes</a:t>
            </a:r>
            <a:r>
              <a:rPr dirty="0"/>
              <a:t>, </a:t>
            </a:r>
            <a:r>
              <a:rPr dirty="0" err="1"/>
              <a:t>empresas</a:t>
            </a:r>
            <a:r>
              <a:rPr dirty="0"/>
              <a:t>, </a:t>
            </a:r>
            <a:r>
              <a:rPr dirty="0" err="1"/>
              <a:t>profesionales</a:t>
            </a:r>
            <a:r>
              <a:rPr dirty="0"/>
              <a:t> </a:t>
            </a:r>
            <a:r>
              <a:rPr dirty="0" err="1"/>
              <a:t>contables</a:t>
            </a:r>
            <a:r>
              <a:rPr dirty="0"/>
              <a:t> o </a:t>
            </a:r>
            <a:r>
              <a:rPr dirty="0" err="1"/>
              <a:t>público</a:t>
            </a:r>
            <a:r>
              <a:rPr dirty="0"/>
              <a:t> general.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Tipo de </a:t>
            </a:r>
            <a:r>
              <a:rPr dirty="0" err="1"/>
              <a:t>contenido</a:t>
            </a:r>
            <a:r>
              <a:rPr dirty="0"/>
              <a:t>: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informativa</a:t>
            </a:r>
            <a:r>
              <a:rPr dirty="0"/>
              <a:t>, </a:t>
            </a:r>
            <a:r>
              <a:rPr dirty="0" err="1"/>
              <a:t>guía</a:t>
            </a:r>
            <a:r>
              <a:rPr dirty="0"/>
              <a:t>, </a:t>
            </a:r>
            <a:r>
              <a:rPr dirty="0" err="1"/>
              <a:t>herramienta</a:t>
            </a:r>
            <a:r>
              <a:rPr dirty="0"/>
              <a:t>, </a:t>
            </a:r>
            <a:r>
              <a:rPr dirty="0" err="1"/>
              <a:t>documento</a:t>
            </a:r>
            <a:r>
              <a:rPr dirty="0"/>
              <a:t> o </a:t>
            </a:r>
            <a:r>
              <a:rPr dirty="0" err="1"/>
              <a:t>acceso</a:t>
            </a:r>
            <a:r>
              <a:rPr dirty="0"/>
              <a:t> a </a:t>
            </a:r>
            <a:r>
              <a:rPr dirty="0" err="1"/>
              <a:t>operación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32. Taxonomía y vocabularios controlados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Consistencia entre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 </a:t>
            </a:r>
            <a:r>
              <a:rPr dirty="0" err="1"/>
              <a:t>taxonomía</a:t>
            </a:r>
            <a:r>
              <a:rPr dirty="0"/>
              <a:t> define la </a:t>
            </a:r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categorías</a:t>
            </a:r>
            <a:r>
              <a:rPr dirty="0"/>
              <a:t> y </a:t>
            </a:r>
            <a:r>
              <a:rPr dirty="0" err="1"/>
              <a:t>subcategorías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vocabularios</a:t>
            </a:r>
            <a:r>
              <a:rPr dirty="0"/>
              <a:t> </a:t>
            </a:r>
            <a:r>
              <a:rPr dirty="0" err="1"/>
              <a:t>controlados</a:t>
            </a:r>
            <a:r>
              <a:rPr dirty="0"/>
              <a:t> </a:t>
            </a:r>
            <a:r>
              <a:rPr dirty="0" err="1"/>
              <a:t>limitan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permitidos</a:t>
            </a:r>
            <a:r>
              <a:rPr dirty="0"/>
              <a:t> y </a:t>
            </a:r>
            <a:r>
              <a:rPr dirty="0" err="1"/>
              <a:t>mantienen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consistente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</a:t>
            </a:r>
            <a:r>
              <a:rPr dirty="0" err="1"/>
              <a:t>facetas</a:t>
            </a:r>
            <a:r>
              <a:rPr dirty="0"/>
              <a:t>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clasificar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dimensiones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categoría</a:t>
            </a:r>
            <a:r>
              <a:rPr dirty="0"/>
              <a:t> y audiencia.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mismos</a:t>
            </a:r>
            <a:r>
              <a:rPr dirty="0"/>
              <a:t> </a:t>
            </a:r>
            <a:r>
              <a:rPr dirty="0" err="1"/>
              <a:t>términos</a:t>
            </a:r>
            <a:r>
              <a:rPr dirty="0"/>
              <a:t> </a:t>
            </a:r>
            <a:r>
              <a:rPr dirty="0" err="1"/>
              <a:t>alimentan</a:t>
            </a:r>
            <a:r>
              <a:rPr dirty="0"/>
              <a:t> </a:t>
            </a:r>
            <a:r>
              <a:rPr dirty="0" err="1"/>
              <a:t>menú</a:t>
            </a:r>
            <a:r>
              <a:rPr dirty="0"/>
              <a:t>, </a:t>
            </a:r>
            <a:r>
              <a:rPr dirty="0" err="1"/>
              <a:t>índice</a:t>
            </a:r>
            <a:r>
              <a:rPr dirty="0"/>
              <a:t> de </a:t>
            </a:r>
            <a:r>
              <a:rPr dirty="0" err="1"/>
              <a:t>Algolia</a:t>
            </a:r>
            <a:r>
              <a:rPr dirty="0"/>
              <a:t> y gestor de </a:t>
            </a:r>
            <a:r>
              <a:rPr dirty="0" err="1"/>
              <a:t>contenidos</a:t>
            </a:r>
            <a:r>
              <a:rPr dirty="0"/>
              <a:t> </a:t>
            </a:r>
            <a:r>
              <a:rPr dirty="0" err="1"/>
              <a:t>Strapi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Una </a:t>
            </a:r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compartida</a:t>
            </a:r>
            <a:r>
              <a:rPr dirty="0"/>
              <a:t> reduce </a:t>
            </a:r>
            <a:r>
              <a:rPr dirty="0" err="1"/>
              <a:t>diferencias</a:t>
            </a:r>
            <a:r>
              <a:rPr dirty="0"/>
              <a:t> entre </a:t>
            </a:r>
            <a:r>
              <a:rPr dirty="0" err="1"/>
              <a:t>navegación</a:t>
            </a:r>
            <a:r>
              <a:rPr dirty="0"/>
              <a:t> y </a:t>
            </a:r>
            <a:r>
              <a:rPr dirty="0" err="1"/>
              <a:t>resultados</a:t>
            </a:r>
            <a:r>
              <a:rPr dirty="0"/>
              <a:t> de </a:t>
            </a:r>
            <a:r>
              <a:rPr dirty="0" err="1"/>
              <a:t>búsqueda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Los </a:t>
            </a:r>
            <a:r>
              <a:rPr dirty="0" err="1"/>
              <a:t>sinónimos</a:t>
            </a:r>
            <a:r>
              <a:rPr dirty="0"/>
              <a:t> se </a:t>
            </a:r>
            <a:r>
              <a:rPr dirty="0" err="1"/>
              <a:t>mantienen</a:t>
            </a:r>
            <a:r>
              <a:rPr dirty="0"/>
              <a:t> </a:t>
            </a:r>
            <a:r>
              <a:rPr dirty="0" err="1"/>
              <a:t>separados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vocabularios</a:t>
            </a:r>
            <a:r>
              <a:rPr dirty="0"/>
              <a:t> </a:t>
            </a:r>
            <a:r>
              <a:rPr dirty="0" err="1"/>
              <a:t>oficiales</a:t>
            </a:r>
            <a:r>
              <a:rPr dirty="0"/>
              <a:t> para no </a:t>
            </a:r>
            <a:r>
              <a:rPr dirty="0" err="1"/>
              <a:t>confundir</a:t>
            </a:r>
            <a:r>
              <a:rPr dirty="0"/>
              <a:t>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33. Papel de Strapi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Gestión centralizada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Strapi 5 se implementó localmente con tres tipos de contenido: Categoría, Público objetivo y Página.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Cada </a:t>
            </a:r>
            <a:r>
              <a:rPr dirty="0" err="1"/>
              <a:t>contenido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mantener</a:t>
            </a:r>
            <a:r>
              <a:rPr dirty="0"/>
              <a:t> </a:t>
            </a:r>
            <a:r>
              <a:rPr dirty="0" err="1"/>
              <a:t>título</a:t>
            </a:r>
            <a:r>
              <a:rPr dirty="0"/>
              <a:t>, </a:t>
            </a:r>
            <a:r>
              <a:rPr dirty="0" err="1"/>
              <a:t>descripción</a:t>
            </a:r>
            <a:r>
              <a:rPr dirty="0"/>
              <a:t>, </a:t>
            </a:r>
            <a:r>
              <a:rPr dirty="0" err="1"/>
              <a:t>categoría</a:t>
            </a:r>
            <a:r>
              <a:rPr dirty="0"/>
              <a:t>, </a:t>
            </a:r>
            <a:r>
              <a:rPr dirty="0" err="1"/>
              <a:t>página</a:t>
            </a:r>
            <a:r>
              <a:rPr dirty="0"/>
              <a:t> padre, palabras clave, </a:t>
            </a:r>
            <a:r>
              <a:rPr dirty="0" err="1"/>
              <a:t>público</a:t>
            </a:r>
            <a:r>
              <a:rPr dirty="0"/>
              <a:t> y </a:t>
            </a:r>
            <a:r>
              <a:rPr dirty="0" err="1"/>
              <a:t>tipo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cargaron las 29 páginas del sitemap final desde el mismo archivo que alimenta Algolia, con API REST.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conecta</a:t>
            </a:r>
            <a:r>
              <a:rPr dirty="0"/>
              <a:t> la </a:t>
            </a:r>
            <a:r>
              <a:rPr dirty="0" err="1"/>
              <a:t>gestión</a:t>
            </a:r>
            <a:r>
              <a:rPr dirty="0"/>
              <a:t> editorial con el </a:t>
            </a:r>
            <a:r>
              <a:rPr dirty="0" err="1"/>
              <a:t>índice</a:t>
            </a:r>
            <a:r>
              <a:rPr dirty="0"/>
              <a:t> de </a:t>
            </a:r>
            <a:r>
              <a:rPr dirty="0" err="1"/>
              <a:t>búsqueda</a:t>
            </a:r>
            <a:r>
              <a:rPr dirty="0"/>
              <a:t> y la </a:t>
            </a:r>
            <a:r>
              <a:rPr dirty="0" err="1"/>
              <a:t>navegación</a:t>
            </a:r>
            <a:r>
              <a:rPr dirty="0"/>
              <a:t> del </a:t>
            </a:r>
            <a:r>
              <a:rPr dirty="0" err="1"/>
              <a:t>prototipo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Un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mantenerse</a:t>
            </a:r>
            <a:r>
              <a:rPr dirty="0"/>
              <a:t> </a:t>
            </a:r>
            <a:r>
              <a:rPr dirty="0" err="1"/>
              <a:t>coherente</a:t>
            </a:r>
            <a:r>
              <a:rPr dirty="0"/>
              <a:t> entre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34. Customer Journey: persona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La experiencia desde la perspectiva del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construyó</a:t>
            </a:r>
            <a:r>
              <a:rPr dirty="0"/>
              <a:t> un </a:t>
            </a:r>
            <a:r>
              <a:rPr dirty="0" err="1"/>
              <a:t>recorrido</a:t>
            </a:r>
            <a:r>
              <a:rPr dirty="0"/>
              <a:t> para Andrea, persona </a:t>
            </a:r>
            <a:r>
              <a:rPr dirty="0" err="1"/>
              <a:t>representativa</a:t>
            </a:r>
            <a:r>
              <a:rPr dirty="0"/>
              <a:t> y no real.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Andrea es </a:t>
            </a:r>
            <a:r>
              <a:rPr dirty="0" err="1"/>
              <a:t>diseñadora</a:t>
            </a:r>
            <a:r>
              <a:rPr dirty="0"/>
              <a:t> </a:t>
            </a:r>
            <a:r>
              <a:rPr dirty="0" err="1"/>
              <a:t>gráfica</a:t>
            </a:r>
            <a:r>
              <a:rPr dirty="0"/>
              <a:t> </a:t>
            </a:r>
            <a:r>
              <a:rPr dirty="0" err="1"/>
              <a:t>independiente</a:t>
            </a:r>
            <a:r>
              <a:rPr dirty="0"/>
              <a:t>, persona </a:t>
            </a:r>
            <a:r>
              <a:rPr dirty="0" err="1"/>
              <a:t>física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emitir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primera</a:t>
            </a:r>
            <a:r>
              <a:rPr dirty="0"/>
              <a:t> factura </a:t>
            </a:r>
            <a:r>
              <a:rPr dirty="0" err="1"/>
              <a:t>electrónica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Su </a:t>
            </a:r>
            <a:r>
              <a:rPr dirty="0" err="1"/>
              <a:t>objetivo</a:t>
            </a:r>
            <a:r>
              <a:rPr dirty="0"/>
              <a:t> es </a:t>
            </a:r>
            <a:r>
              <a:rPr dirty="0" err="1"/>
              <a:t>hacerlo</a:t>
            </a:r>
            <a:r>
              <a:rPr dirty="0"/>
              <a:t> pronto y sin </a:t>
            </a:r>
            <a:r>
              <a:rPr dirty="0" err="1"/>
              <a:t>errores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mapa</a:t>
            </a:r>
            <a:r>
              <a:rPr dirty="0"/>
              <a:t> se </a:t>
            </a:r>
            <a:r>
              <a:rPr dirty="0" err="1"/>
              <a:t>elaboró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FigJam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equivalente</a:t>
            </a:r>
            <a:r>
              <a:rPr dirty="0"/>
              <a:t> a Miro.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estudiaron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: </a:t>
            </a:r>
            <a:r>
              <a:rPr dirty="0" err="1"/>
              <a:t>descubrir</a:t>
            </a:r>
            <a:r>
              <a:rPr dirty="0"/>
              <a:t>, </a:t>
            </a:r>
            <a:r>
              <a:rPr dirty="0" err="1"/>
              <a:t>comparar</a:t>
            </a:r>
            <a:r>
              <a:rPr dirty="0"/>
              <a:t>, </a:t>
            </a:r>
            <a:r>
              <a:rPr dirty="0" err="1"/>
              <a:t>comprar</a:t>
            </a:r>
            <a:r>
              <a:rPr dirty="0"/>
              <a:t>, </a:t>
            </a:r>
            <a:r>
              <a:rPr dirty="0" err="1"/>
              <a:t>activar</a:t>
            </a:r>
            <a:r>
              <a:rPr dirty="0"/>
              <a:t>, </a:t>
            </a:r>
            <a:r>
              <a:rPr dirty="0" err="1"/>
              <a:t>registrarse</a:t>
            </a:r>
            <a:r>
              <a:rPr dirty="0"/>
              <a:t> ante Hacienda, </a:t>
            </a:r>
            <a:r>
              <a:rPr dirty="0" err="1"/>
              <a:t>emitir</a:t>
            </a:r>
            <a:r>
              <a:rPr dirty="0"/>
              <a:t> la </a:t>
            </a:r>
            <a:r>
              <a:rPr dirty="0" err="1"/>
              <a:t>primera</a:t>
            </a:r>
            <a:r>
              <a:rPr dirty="0"/>
              <a:t> factura y </a:t>
            </a:r>
            <a:r>
              <a:rPr dirty="0" err="1"/>
              <a:t>mantener</a:t>
            </a:r>
            <a:r>
              <a:rPr dirty="0"/>
              <a:t> el </a:t>
            </a:r>
            <a:r>
              <a:rPr dirty="0" err="1"/>
              <a:t>servicio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35. Customer Journey: 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La fricción se concentra en el proceso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Descubrir</a:t>
            </a:r>
            <a:r>
              <a:rPr dirty="0"/>
              <a:t>: </a:t>
            </a:r>
            <a:r>
              <a:rPr dirty="0" err="1"/>
              <a:t>ayudaría</a:t>
            </a:r>
            <a:r>
              <a:rPr dirty="0"/>
              <a:t> un </a:t>
            </a:r>
            <a:r>
              <a:rPr dirty="0" err="1"/>
              <a:t>acceso</a:t>
            </a:r>
            <a:r>
              <a:rPr dirty="0"/>
              <a:t> visible a “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comenzar</a:t>
            </a:r>
            <a:r>
              <a:rPr dirty="0"/>
              <a:t>”.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Comparar</a:t>
            </a:r>
            <a:r>
              <a:rPr dirty="0"/>
              <a:t> planes: el </a:t>
            </a:r>
            <a:r>
              <a:rPr dirty="0" err="1"/>
              <a:t>perfil</a:t>
            </a:r>
            <a:r>
              <a:rPr dirty="0"/>
              <a:t> fiscal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estar</a:t>
            </a:r>
            <a:r>
              <a:rPr dirty="0"/>
              <a:t> visible </a:t>
            </a:r>
            <a:r>
              <a:rPr dirty="0" err="1"/>
              <a:t>desde</a:t>
            </a:r>
            <a:r>
              <a:rPr dirty="0"/>
              <a:t> el </a:t>
            </a:r>
            <a:r>
              <a:rPr dirty="0" err="1"/>
              <a:t>menú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Comprar</a:t>
            </a:r>
            <a:r>
              <a:rPr dirty="0"/>
              <a:t>: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explicarse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ocurre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Activar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 y </a:t>
            </a:r>
            <a:r>
              <a:rPr dirty="0" err="1"/>
              <a:t>registrarse</a:t>
            </a:r>
            <a:r>
              <a:rPr dirty="0"/>
              <a:t> ante Hacienda son las </a:t>
            </a:r>
            <a:r>
              <a:rPr dirty="0" err="1"/>
              <a:t>etapas</a:t>
            </a:r>
            <a:r>
              <a:rPr dirty="0"/>
              <a:t> con mayor </a:t>
            </a:r>
            <a:r>
              <a:rPr dirty="0" err="1"/>
              <a:t>frustración</a:t>
            </a:r>
            <a:r>
              <a:rPr dirty="0"/>
              <a:t>, ambas con </a:t>
            </a:r>
            <a:r>
              <a:rPr dirty="0" err="1"/>
              <a:t>emoción</a:t>
            </a:r>
            <a:r>
              <a:rPr dirty="0"/>
              <a:t> −2.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Emitir</a:t>
            </a:r>
            <a:r>
              <a:rPr dirty="0"/>
              <a:t> la </a:t>
            </a:r>
            <a:r>
              <a:rPr dirty="0" err="1"/>
              <a:t>primera</a:t>
            </a:r>
            <a:r>
              <a:rPr dirty="0"/>
              <a:t> factura: el </a:t>
            </a:r>
            <a:r>
              <a:rPr dirty="0" err="1"/>
              <a:t>inicio</a:t>
            </a:r>
            <a:r>
              <a:rPr dirty="0"/>
              <a:t> de </a:t>
            </a:r>
            <a:r>
              <a:rPr dirty="0" err="1"/>
              <a:t>sesión</a:t>
            </a:r>
            <a:r>
              <a:rPr dirty="0"/>
              <a:t> </a:t>
            </a:r>
            <a:r>
              <a:rPr dirty="0" err="1"/>
              <a:t>persistente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volver</a:t>
            </a:r>
            <a:r>
              <a:rPr dirty="0"/>
              <a:t> a </a:t>
            </a:r>
            <a:r>
              <a:rPr dirty="0" err="1"/>
              <a:t>Inicio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Mantener</a:t>
            </a:r>
            <a:r>
              <a:rPr dirty="0"/>
              <a:t> el </a:t>
            </a:r>
            <a:r>
              <a:rPr dirty="0" err="1"/>
              <a:t>servicio</a:t>
            </a:r>
            <a:r>
              <a:rPr dirty="0"/>
              <a:t>: Pagos y </a:t>
            </a:r>
            <a:r>
              <a:rPr dirty="0" err="1"/>
              <a:t>recargas</a:t>
            </a:r>
            <a:r>
              <a:rPr dirty="0"/>
              <a:t> </a:t>
            </a:r>
            <a:r>
              <a:rPr dirty="0" err="1"/>
              <a:t>unifica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frecuentes</a:t>
            </a:r>
            <a:r>
              <a:rPr dirty="0"/>
              <a:t> y reduce </a:t>
            </a:r>
            <a:r>
              <a:rPr dirty="0" err="1"/>
              <a:t>ambigüedad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36. Uso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La IA como herramienta complementaria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La IA </a:t>
            </a:r>
            <a:r>
              <a:rPr dirty="0" err="1"/>
              <a:t>generativa</a:t>
            </a:r>
            <a:r>
              <a:rPr dirty="0"/>
              <a:t> </a:t>
            </a:r>
            <a:r>
              <a:rPr dirty="0" err="1"/>
              <a:t>apoyó</a:t>
            </a:r>
            <a:r>
              <a:rPr dirty="0"/>
              <a:t> la </a:t>
            </a:r>
            <a:r>
              <a:rPr dirty="0" err="1"/>
              <a:t>revisión</a:t>
            </a:r>
            <a:r>
              <a:rPr dirty="0"/>
              <a:t> de </a:t>
            </a:r>
            <a:r>
              <a:rPr dirty="0" err="1"/>
              <a:t>agrupación</a:t>
            </a:r>
            <a:r>
              <a:rPr dirty="0"/>
              <a:t> de </a:t>
            </a:r>
            <a:r>
              <a:rPr dirty="0" err="1"/>
              <a:t>contenidos</a:t>
            </a:r>
            <a:r>
              <a:rPr dirty="0"/>
              <a:t> y </a:t>
            </a:r>
            <a:r>
              <a:rPr dirty="0" err="1"/>
              <a:t>coherencia</a:t>
            </a:r>
            <a:r>
              <a:rPr dirty="0"/>
              <a:t> de </a:t>
            </a:r>
            <a:r>
              <a:rPr dirty="0" err="1"/>
              <a:t>categorías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También se </a:t>
            </a:r>
            <a:r>
              <a:rPr dirty="0" err="1"/>
              <a:t>consultaron</a:t>
            </a:r>
            <a:r>
              <a:rPr dirty="0"/>
              <a:t> </a:t>
            </a:r>
            <a:r>
              <a:rPr dirty="0" err="1"/>
              <a:t>alternativas</a:t>
            </a:r>
            <a:r>
              <a:rPr dirty="0"/>
              <a:t> para </a:t>
            </a:r>
            <a:r>
              <a:rPr dirty="0" err="1"/>
              <a:t>mejorar</a:t>
            </a:r>
            <a:r>
              <a:rPr dirty="0"/>
              <a:t> las </a:t>
            </a:r>
            <a:r>
              <a:rPr dirty="0" err="1"/>
              <a:t>etiquetas</a:t>
            </a:r>
            <a:r>
              <a:rPr dirty="0"/>
              <a:t> del </a:t>
            </a:r>
            <a:r>
              <a:rPr dirty="0" err="1"/>
              <a:t>menú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Se </a:t>
            </a:r>
            <a:r>
              <a:rPr dirty="0" err="1"/>
              <a:t>generaron</a:t>
            </a:r>
            <a:r>
              <a:rPr dirty="0"/>
              <a:t> </a:t>
            </a:r>
            <a:r>
              <a:rPr dirty="0" err="1"/>
              <a:t>borradores</a:t>
            </a:r>
            <a:r>
              <a:rPr dirty="0"/>
              <a:t> </a:t>
            </a:r>
            <a:r>
              <a:rPr dirty="0" err="1"/>
              <a:t>visuales</a:t>
            </a:r>
            <a:r>
              <a:rPr dirty="0"/>
              <a:t> de wireframes y se </a:t>
            </a:r>
            <a:r>
              <a:rPr dirty="0" err="1"/>
              <a:t>revisaron</a:t>
            </a:r>
            <a:r>
              <a:rPr dirty="0"/>
              <a:t> </a:t>
            </a:r>
            <a:r>
              <a:rPr dirty="0" err="1"/>
              <a:t>jerarquía</a:t>
            </a:r>
            <a:r>
              <a:rPr dirty="0"/>
              <a:t>, </a:t>
            </a:r>
            <a:r>
              <a:rPr dirty="0" err="1"/>
              <a:t>distribución</a:t>
            </a:r>
            <a:r>
              <a:rPr dirty="0"/>
              <a:t> y </a:t>
            </a:r>
            <a:r>
              <a:rPr dirty="0" err="1"/>
              <a:t>legibilidad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La IA </a:t>
            </a:r>
            <a:r>
              <a:rPr dirty="0" err="1"/>
              <a:t>apoyó</a:t>
            </a:r>
            <a:r>
              <a:rPr dirty="0"/>
              <a:t> la </a:t>
            </a:r>
            <a:r>
              <a:rPr dirty="0" err="1"/>
              <a:t>revisión</a:t>
            </a:r>
            <a:r>
              <a:rPr dirty="0"/>
              <a:t> documental y </a:t>
            </a:r>
            <a:r>
              <a:rPr dirty="0" err="1"/>
              <a:t>señaló</a:t>
            </a:r>
            <a:r>
              <a:rPr dirty="0"/>
              <a:t> </a:t>
            </a:r>
            <a:r>
              <a:rPr dirty="0" err="1"/>
              <a:t>posibles</a:t>
            </a:r>
            <a:r>
              <a:rPr dirty="0"/>
              <a:t> </a:t>
            </a:r>
            <a:r>
              <a:rPr dirty="0" err="1"/>
              <a:t>inconsistencias</a:t>
            </a:r>
            <a:r>
              <a:rPr dirty="0"/>
              <a:t> para </a:t>
            </a:r>
            <a:r>
              <a:rPr dirty="0" err="1"/>
              <a:t>analizar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</a:t>
            </a:r>
            <a:r>
              <a:rPr dirty="0" err="1"/>
              <a:t>sugerencias</a:t>
            </a:r>
            <a:r>
              <a:rPr dirty="0"/>
              <a:t> se </a:t>
            </a:r>
            <a:r>
              <a:rPr dirty="0" err="1"/>
              <a:t>valoraron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objetivos</a:t>
            </a:r>
            <a:r>
              <a:rPr dirty="0"/>
              <a:t>, </a:t>
            </a:r>
            <a:r>
              <a:rPr dirty="0" err="1"/>
              <a:t>hallazgos</a:t>
            </a:r>
            <a:r>
              <a:rPr dirty="0"/>
              <a:t> y </a:t>
            </a:r>
            <a:r>
              <a:rPr dirty="0" err="1"/>
              <a:t>observaciones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; no se </a:t>
            </a:r>
            <a:r>
              <a:rPr dirty="0" err="1"/>
              <a:t>incorporaron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37. Análisis crítico de la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Validar antes de adoptar recomendaciones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La IA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proponer</a:t>
            </a:r>
            <a:r>
              <a:rPr dirty="0"/>
              <a:t> </a:t>
            </a:r>
            <a:r>
              <a:rPr dirty="0" err="1"/>
              <a:t>alternativas</a:t>
            </a:r>
            <a:r>
              <a:rPr dirty="0"/>
              <a:t> </a:t>
            </a:r>
            <a:r>
              <a:rPr dirty="0" err="1"/>
              <a:t>rápidamente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conoce</a:t>
            </a:r>
            <a:r>
              <a:rPr dirty="0"/>
              <a:t> </a:t>
            </a:r>
            <a:r>
              <a:rPr dirty="0" err="1"/>
              <a:t>necesariamente</a:t>
            </a:r>
            <a:r>
              <a:rPr dirty="0"/>
              <a:t> el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las </a:t>
            </a:r>
            <a:r>
              <a:rPr dirty="0" err="1"/>
              <a:t>expectativas</a:t>
            </a:r>
            <a:r>
              <a:rPr dirty="0"/>
              <a:t> reales de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usuarios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Sus </a:t>
            </a:r>
            <a:r>
              <a:rPr dirty="0" err="1"/>
              <a:t>recomendaciones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ser </a:t>
            </a:r>
            <a:r>
              <a:rPr dirty="0" err="1"/>
              <a:t>genéricas</a:t>
            </a:r>
            <a:r>
              <a:rPr dirty="0"/>
              <a:t> o </a:t>
            </a:r>
            <a:r>
              <a:rPr dirty="0" err="1"/>
              <a:t>visualmente</a:t>
            </a:r>
            <a:r>
              <a:rPr dirty="0"/>
              <a:t> </a:t>
            </a:r>
            <a:r>
              <a:rPr dirty="0" err="1"/>
              <a:t>atractivas</a:t>
            </a:r>
            <a:r>
              <a:rPr dirty="0"/>
              <a:t> sin resolver el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navegación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revisó</a:t>
            </a:r>
            <a:r>
              <a:rPr dirty="0"/>
              <a:t> </a:t>
            </a:r>
            <a:r>
              <a:rPr dirty="0" err="1"/>
              <a:t>pertinencia</a:t>
            </a:r>
            <a:r>
              <a:rPr dirty="0"/>
              <a:t>, </a:t>
            </a:r>
            <a:r>
              <a:rPr dirty="0" err="1"/>
              <a:t>consistencia</a:t>
            </a:r>
            <a:r>
              <a:rPr dirty="0"/>
              <a:t>, </a:t>
            </a:r>
            <a:r>
              <a:rPr dirty="0" err="1"/>
              <a:t>claridad</a:t>
            </a:r>
            <a:r>
              <a:rPr dirty="0"/>
              <a:t> y </a:t>
            </a:r>
            <a:r>
              <a:rPr dirty="0" err="1"/>
              <a:t>alineación</a:t>
            </a:r>
            <a:r>
              <a:rPr dirty="0"/>
              <a:t> con las </a:t>
            </a:r>
            <a:r>
              <a:rPr dirty="0" err="1"/>
              <a:t>pruebas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contraste</a:t>
            </a:r>
            <a:r>
              <a:rPr dirty="0"/>
              <a:t> y la </a:t>
            </a:r>
            <a:r>
              <a:rPr dirty="0" err="1"/>
              <a:t>legibilidad</a:t>
            </a:r>
            <a:r>
              <a:rPr dirty="0"/>
              <a:t> de </a:t>
            </a:r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botones</a:t>
            </a:r>
            <a:r>
              <a:rPr dirty="0"/>
              <a:t> </a:t>
            </a:r>
            <a:r>
              <a:rPr dirty="0" err="1"/>
              <a:t>requirieron</a:t>
            </a:r>
            <a:r>
              <a:rPr dirty="0"/>
              <a:t> </a:t>
            </a:r>
            <a:r>
              <a:rPr dirty="0" err="1"/>
              <a:t>ajustes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 dirty="0"/>
              <a:t>•  La </a:t>
            </a:r>
            <a:r>
              <a:rPr dirty="0" err="1"/>
              <a:t>decisión</a:t>
            </a:r>
            <a:r>
              <a:rPr dirty="0"/>
              <a:t> final se </a:t>
            </a:r>
            <a:r>
              <a:rPr dirty="0" err="1"/>
              <a:t>basó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análisis</a:t>
            </a:r>
            <a:r>
              <a:rPr dirty="0"/>
              <a:t> del </a:t>
            </a:r>
            <a:r>
              <a:rPr dirty="0" err="1"/>
              <a:t>equipo</a:t>
            </a:r>
            <a:r>
              <a:rPr dirty="0"/>
              <a:t> y la </a:t>
            </a:r>
            <a:r>
              <a:rPr dirty="0" err="1"/>
              <a:t>evidencia</a:t>
            </a:r>
            <a:r>
              <a:rPr dirty="0"/>
              <a:t> disponible.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38. Conclusiones generales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Síntesis del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 </a:t>
            </a:r>
            <a:r>
              <a:rPr dirty="0" err="1"/>
              <a:t>problemática</a:t>
            </a:r>
            <a:r>
              <a:rPr dirty="0"/>
              <a:t> era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organización</a:t>
            </a:r>
            <a:r>
              <a:rPr dirty="0"/>
              <a:t> </a:t>
            </a:r>
            <a:r>
              <a:rPr dirty="0" err="1"/>
              <a:t>centrada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marcas</a:t>
            </a:r>
            <a:r>
              <a:rPr dirty="0"/>
              <a:t> y </a:t>
            </a:r>
            <a:r>
              <a:rPr dirty="0" err="1"/>
              <a:t>productos</a:t>
            </a:r>
            <a:r>
              <a:rPr dirty="0"/>
              <a:t>, no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y </a:t>
            </a:r>
            <a:r>
              <a:rPr dirty="0" err="1"/>
              <a:t>etapas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usuarios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cinco categorías del sitemap final, junto con Inicio y los accesos persistentes, diferencian nuevos usuarios de clientes actuales.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detectaron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clasificación</a:t>
            </a:r>
            <a:r>
              <a:rPr dirty="0"/>
              <a:t> y </a:t>
            </a:r>
            <a:r>
              <a:rPr dirty="0" err="1"/>
              <a:t>navegación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incorporaron</a:t>
            </a:r>
            <a:r>
              <a:rPr dirty="0"/>
              <a:t> al sitemap </a:t>
            </a:r>
            <a:r>
              <a:rPr dirty="0" err="1"/>
              <a:t>corregido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Prototipo, wireframes, buscador, metadatos y Strapi se implementaron sobre el mismo sitemap final.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El Customer Journey </a:t>
            </a:r>
            <a:r>
              <a:rPr dirty="0" err="1"/>
              <a:t>confirma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activación</a:t>
            </a:r>
            <a:r>
              <a:rPr dirty="0"/>
              <a:t> y </a:t>
            </a:r>
            <a:r>
              <a:rPr dirty="0" err="1"/>
              <a:t>registro</a:t>
            </a:r>
            <a:r>
              <a:rPr dirty="0"/>
              <a:t> ante Hacienda son </a:t>
            </a:r>
            <a:r>
              <a:rPr dirty="0" err="1"/>
              <a:t>momentos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Las </a:t>
            </a:r>
            <a:r>
              <a:rPr dirty="0" err="1"/>
              <a:t>limitaciones</a:t>
            </a:r>
            <a:r>
              <a:rPr dirty="0"/>
              <a:t> </a:t>
            </a:r>
            <a:r>
              <a:rPr dirty="0" err="1"/>
              <a:t>incluyen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pequeña</a:t>
            </a:r>
            <a:r>
              <a:rPr dirty="0"/>
              <a:t>, </a:t>
            </a: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heurística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persona </a:t>
            </a:r>
            <a:r>
              <a:rPr dirty="0" err="1"/>
              <a:t>representativa</a:t>
            </a:r>
            <a:r>
              <a:rPr dirty="0"/>
              <a:t> no </a:t>
            </a:r>
            <a:r>
              <a:rPr dirty="0" err="1"/>
              <a:t>empírica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33288"/>
            <a:ext cx="10607040" cy="393192"/>
          </a:xfrm>
          <a:prstGeom prst="roundRect">
            <a:avLst/>
          </a:prstGeom>
          <a:solidFill>
            <a:srgbClr val="E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32720" cy="24688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1">
                <a:solidFill>
                  <a:srgbClr val="009191"/>
                </a:solidFill>
                <a:latin typeface="Aptos"/>
              </a:defRPr>
            </a:pPr>
            <a:r>
              <a:t>La arquitectura debe seguir validándose con más usuarios y datos reales.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39. Recomendaciones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300" b="0">
                <a:solidFill>
                  <a:srgbClr val="5C6978"/>
                </a:solidFill>
                <a:latin typeface="Aptos"/>
              </a:defRPr>
            </a:pPr>
            <a:r>
              <a:t>Próximas iteraciones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5C6978"/>
                </a:solidFill>
                <a:latin typeface="Aptos"/>
              </a:defRPr>
            </a:pPr>
            <a:r>
              <a:t>EIF 511 · Proyecto Integrador · FacturaElectronica.cr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492240"/>
            <a:ext cx="3657600" cy="20116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1F5B96"/>
                </a:solidFill>
                <a:latin typeface="Aptos"/>
              </a:defRPr>
            </a:pPr>
            <a:r>
              <a:t>Expositor: Luis Aguilar Bolaños | 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1097280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28600" rtlCol="0" anchor="ctr"/>
          <a:lstStyle/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Repetir</a:t>
            </a:r>
            <a:r>
              <a:rPr dirty="0"/>
              <a:t> el tree testing con el sitemap </a:t>
            </a:r>
            <a:r>
              <a:rPr dirty="0" err="1"/>
              <a:t>corregido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mayor.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pruebas</a:t>
            </a:r>
            <a:r>
              <a:rPr dirty="0"/>
              <a:t> de </a:t>
            </a:r>
            <a:r>
              <a:rPr dirty="0" err="1"/>
              <a:t>tareas</a:t>
            </a:r>
            <a:r>
              <a:rPr dirty="0"/>
              <a:t> con personas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 </a:t>
            </a:r>
            <a:r>
              <a:rPr dirty="0" err="1"/>
              <a:t>perfiles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Mejorar</a:t>
            </a:r>
            <a:r>
              <a:rPr dirty="0"/>
              <a:t> el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recuperación</a:t>
            </a:r>
            <a:r>
              <a:rPr dirty="0"/>
              <a:t> de </a:t>
            </a:r>
            <a:r>
              <a:rPr dirty="0" err="1"/>
              <a:t>contraseña</a:t>
            </a:r>
            <a:r>
              <a:rPr dirty="0"/>
              <a:t> y </a:t>
            </a:r>
            <a:r>
              <a:rPr dirty="0" err="1"/>
              <a:t>activación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Medir el uso real del prototipo publicado con herramientas de analítica, como Microsoft Clarity.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etiquetas</a:t>
            </a:r>
            <a:r>
              <a:rPr dirty="0"/>
              <a:t>, </a:t>
            </a:r>
            <a:r>
              <a:rPr dirty="0" err="1"/>
              <a:t>metadatos</a:t>
            </a:r>
            <a:r>
              <a:rPr dirty="0"/>
              <a:t> y </a:t>
            </a:r>
            <a:r>
              <a:rPr dirty="0" err="1"/>
              <a:t>sinónimos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reales.</a:t>
            </a:r>
          </a:p>
          <a:p>
            <a:pPr>
              <a:spcAft>
                <a:spcPts val="7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Actualizar</a:t>
            </a:r>
            <a:r>
              <a:rPr dirty="0"/>
              <a:t> </a:t>
            </a:r>
            <a:r>
              <a:rPr dirty="0" err="1"/>
              <a:t>coordinadamente</a:t>
            </a:r>
            <a:r>
              <a:rPr dirty="0"/>
              <a:t> el </a:t>
            </a:r>
            <a:r>
              <a:rPr dirty="0" err="1"/>
              <a:t>menú</a:t>
            </a:r>
            <a:r>
              <a:rPr dirty="0"/>
              <a:t>, el </a:t>
            </a:r>
            <a:r>
              <a:rPr dirty="0" err="1"/>
              <a:t>buscador</a:t>
            </a:r>
            <a:r>
              <a:rPr dirty="0"/>
              <a:t> y el gestor de </a:t>
            </a:r>
            <a:r>
              <a:rPr dirty="0" err="1"/>
              <a:t>contenidos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Muchas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96696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defRPr sz="2300" b="0">
                <a:solidFill>
                  <a:srgbClr val="96DCDC"/>
                </a:solidFill>
                <a:latin typeface="Aptos"/>
              </a:defRPr>
            </a:pPr>
            <a:r>
              <a:t>¿Preguntas o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6400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Ceasar Calvo Muñoz · Derrek Ureña Solis · Luis Aguilar Bolaños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355080"/>
            <a:ext cx="996696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defRPr sz="1000" b="0">
                <a:solidFill>
                  <a:srgbClr val="BECDDC"/>
                </a:solidFill>
                <a:latin typeface="Aptos"/>
              </a:defRPr>
            </a:pPr>
            <a:r>
              <a:t>Prototipo y evidencias: aguilarato.github.io/arquitectura-gti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4799</Words>
  <Application>Microsoft Office PowerPoint</Application>
  <PresentationFormat>Widescreen</PresentationFormat>
  <Paragraphs>558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Ceasar Calvo Muñoz</dc:creator>
  <cp:keywords/>
  <dc:description>generated using python-pptx</dc:description>
  <cp:lastModifiedBy>Derrek Adrian Ureña Solís</cp:lastModifiedBy>
  <cp:revision>3</cp:revision>
  <dcterms:created xsi:type="dcterms:W3CDTF">2013-01-27T09:14:16Z</dcterms:created>
  <dcterms:modified xsi:type="dcterms:W3CDTF">2026-10-27T17:13:51Z</dcterms:modified>
  <cp:category/>
</cp:coreProperties>
</file>